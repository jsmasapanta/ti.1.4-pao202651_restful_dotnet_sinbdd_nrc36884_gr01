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0dfcded1-cd76-eb23-b732-2735b503362b}">
          <p14:sldIdLst>
            <p14:sldId id="256"/>
          </p14:sldIdLst>
        </p14:section>
        <p14:section name="Solución" id="{9c1a8b8b-43c9-6b3f-94b8-5ec7b906c7f0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a80db5f0-a006-3dfc-288f-607e84f5c7c3}">
          <p14:sldIdLst>
            <p14:sldId id="264"/>
            <p14:sldId id="265"/>
            <p14:sldId id="266"/>
            <p14:sldId id="267"/>
            <p14:sldId id="268"/>
          </p14:sldIdLst>
        </p14:section>
        <p14:section name="Calidad" id="{5157e6b3-3579-6216-dd19-9b3630801b2c}">
          <p14:sldIdLst>
            <p14:sldId id="269"/>
            <p14:sldId id="270"/>
          </p14:sldIdLst>
        </p14:section>
        <p14:section name="Cierre" id="{cce459e0-aa95-5d96-6fc3-ff5aa88bf4a1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TI.1.4: un API REST en .NET sin base de datos y cuatro clientes que lo consumen. Es la versión REST del TI.1.2 SOAP.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lógica está en un solo lugar (el servidor) y cuatro tecnologías distintas la consumen por HTTP y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clientes hablan HTTP con el API en Kestrel :8086. El servidor se organiza en Controllers, Modelo y Lógica; las credenciales están en appsettings.json.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conversión es un recurso GET con el parámetro 'valor'. El login es un POST con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 izquierda, la petición que envían los clientes. A la derecha, la respuesta 200 y el error 400 cuando el valor es imposible.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Swagger reemplaza al WSDL: describe el API con OpenAPI y permite probar cada recurso desde el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capa Lógica no cambió: solo la forma de exponerla y la clase Servicio de cada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Mejoras que hacen al sistema más correcto, más fácil de mantener y más claro para el usuario.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cliente más simple: sirve para comprobar que el API responde.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sola clase PanelConversion sirve para las tres categorías; el ClienteConversion es el mismo de la consola.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Mismo diseño que el escritorio; en celular el menú pasa arriba.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 «Conversor REST» instalada en una tablet; convive con la app SOAP del TI.1.2.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usa su propio equipo; el servidor abre el puerto 8086 y los clientes apuntan a la IP de Wi-Fi de la PC del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en el ECUD: actores, flujos básicos y alternos de cada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en una sola PC (tablet por cable con adb reverse) y luego en red con la IP de Wi-Fi.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004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004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 · Arquitectura de Software · Conversor de Unidades RESTful .NET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signia ⇄"/>
          <p:cNvSpPr/>
          <p:nvPr/>
        </p:nvSpPr>
        <p:spPr>
          <a:xfrm>
            <a:off x="731520" y="731520"/>
            <a:ext cx="1005840" cy="100584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868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LAS FUERZAS ARMADAS ESPE · ARQUITECTURA DE SOFTWARE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2344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TI.1.4 · PAO 2026-51 · NRC 36884 · Grupo 1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Conversor de Unidades RESTful .NET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6118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sin base de datos para temperatura, longitud y masa, con clientes de consola, escritorio, web y móvil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Wilmer Buestan · Jefferson Masapanta · Moises Benalcazar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Eduardo Mauricio Campaña Ortega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28/10/2026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API, cuatro clientes</a:t>
            </a:r>
            <a:endParaRPr lang="en-US" sz="3400" dirty="0"/>
          </a:p>
        </p:txBody>
      </p:sp>
      <p:sp>
        <p:nvSpPr>
          <p:cNvPr id="4" name="Cifra 1"/>
          <p:cNvSpPr/>
          <p:nvPr/>
        </p:nvSpPr>
        <p:spPr>
          <a:xfrm>
            <a:off x="548640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6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.NET 9</a:t>
            </a:r>
            <a:endParaRPr lang="en-US" sz="1600" dirty="0"/>
          </a:p>
        </p:txBody>
      </p:sp>
      <p:sp>
        <p:nvSpPr>
          <p:cNvPr id="7" name="Cifra 4"/>
          <p:cNvSpPr/>
          <p:nvPr/>
        </p:nvSpPr>
        <p:spPr>
          <a:xfrm>
            <a:off x="3364992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64992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3502152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clientes: consola,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escritorio, web y móvil</a:t>
            </a:r>
            <a:endParaRPr lang="en-US" sz="1600" dirty="0"/>
          </a:p>
        </p:txBody>
      </p:sp>
      <p:sp>
        <p:nvSpPr>
          <p:cNvPr id="10" name="Cifra 17"/>
          <p:cNvSpPr/>
          <p:nvPr/>
        </p:nvSpPr>
        <p:spPr>
          <a:xfrm>
            <a:off x="6181344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81344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65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600" dirty="0"/>
          </a:p>
        </p:txBody>
      </p:sp>
      <p:sp>
        <p:nvSpPr>
          <p:cNvPr id="12" name="Text 9"/>
          <p:cNvSpPr txBox="1"/>
          <p:nvPr/>
        </p:nvSpPr>
        <p:spPr>
          <a:xfrm>
            <a:off x="6318504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recursos: login +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conversiones</a:t>
            </a:r>
            <a:endParaRPr lang="en-US" sz="1600" dirty="0"/>
          </a:p>
        </p:txBody>
      </p:sp>
      <p:sp>
        <p:nvSpPr>
          <p:cNvPr id="13" name="Cifra 0"/>
          <p:cNvSpPr/>
          <p:nvPr/>
        </p:nvSpPr>
        <p:spPr>
          <a:xfrm>
            <a:off x="8997696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997696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7C3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600" dirty="0"/>
          </a:p>
        </p:txBody>
      </p:sp>
      <p:sp>
        <p:nvSpPr>
          <p:cNvPr id="15" name="Text 12"/>
          <p:cNvSpPr txBox="1"/>
          <p:nvPr/>
        </p:nvSpPr>
        <p:spPr>
          <a:xfrm>
            <a:off x="9134856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de datos: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memoria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buNone/>
            </a:pPr>
            <a:r>
              <a:rPr lang="en-US" sz="18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exponer la misma lógica del TI.1.2 como recursos REST: .NET Framework, .NET 8 y .NET MAUI la consumen solo con HttpClient y JSON.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la solución</a:t>
            </a:r>
            <a:endParaRPr lang="en-US" sz="3400" dirty="0"/>
          </a:p>
        </p:txBody>
      </p:sp>
      <p:pic>
        <p:nvPicPr>
          <p:cNvPr id="4" name="Diagrama de arquitectura" descr="Diagrama de arquitectu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8747" y="1234440"/>
            <a:ext cx="5729226" cy="4983480"/>
          </a:xfrm>
          <a:prstGeom prst="rect">
            <a:avLst/>
          </a:prstGeom>
        </p:spPr>
      </p:pic>
      <p:sp>
        <p:nvSpPr>
          <p:cNvPr id="5" name="Insignia 1"/>
          <p:cNvSpPr/>
          <p:nvPr/>
        </p:nvSpPr>
        <p:spPr>
          <a:xfrm>
            <a:off x="7863840" y="1417320"/>
            <a:ext cx="548640" cy="54864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8638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JSON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17373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 HTTP sobre recursos, Kestrel :8086</a:t>
            </a:r>
            <a:endParaRPr lang="en-US" sz="1400" dirty="0"/>
          </a:p>
        </p:txBody>
      </p:sp>
      <p:sp>
        <p:nvSpPr>
          <p:cNvPr id="9" name="Insignia 2"/>
          <p:cNvSpPr/>
          <p:nvPr/>
        </p:nvSpPr>
        <p:spPr>
          <a:xfrm>
            <a:off x="7863840" y="2606040"/>
            <a:ext cx="548640" cy="548640"/>
          </a:xfrm>
          <a:prstGeom prst="ellipse">
            <a:avLst/>
          </a:prstGeom>
          <a:solidFill>
            <a:srgbClr val="1971C2"/>
          </a:solidFill>
          <a:ln w="12700">
            <a:solidFill>
              <a:srgbClr val="1971C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8595360" y="29260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/swagger documenta y prueba el API (OpenAPI)</a:t>
            </a:r>
            <a:endParaRPr lang="en-US" sz="1400" dirty="0"/>
          </a:p>
        </p:txBody>
      </p:sp>
      <p:sp>
        <p:nvSpPr>
          <p:cNvPr id="13" name="Insignia 3"/>
          <p:cNvSpPr/>
          <p:nvPr/>
        </p:nvSpPr>
        <p:spPr>
          <a:xfrm>
            <a:off x="7863840" y="3794760"/>
            <a:ext cx="548640" cy="548640"/>
          </a:xfrm>
          <a:prstGeom prst="ellipse">
            <a:avLst/>
          </a:prstGeom>
          <a:solidFill>
            <a:srgbClr val="D65D0E"/>
          </a:solidFill>
          <a:ln w="12700">
            <a:solidFill>
              <a:srgbClr val="D65D0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595360" y="41148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→ Lógica (la misma del TI.1.2)</a:t>
            </a:r>
            <a:endParaRPr lang="en-US" sz="1400" dirty="0"/>
          </a:p>
        </p:txBody>
      </p:sp>
      <p:sp>
        <p:nvSpPr>
          <p:cNvPr id="17" name="Insignia 4"/>
          <p:cNvSpPr/>
          <p:nvPr/>
        </p:nvSpPr>
        <p:spPr>
          <a:xfrm>
            <a:off x="7863840" y="4983480"/>
            <a:ext cx="548640" cy="548640"/>
          </a:xfrm>
          <a:prstGeom prst="ellipse">
            <a:avLst/>
          </a:prstGeom>
          <a:solidFill>
            <a:srgbClr val="7C3AAD"/>
          </a:solidFill>
          <a:ln w="12700">
            <a:solidFill>
              <a:srgbClr val="7C3AA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86384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4937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BDD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595360" y="53035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 en appsettings.json, cálculo en memoria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recursos del API</a:t>
            </a:r>
            <a:endParaRPr lang="en-US" sz="3400" dirty="0"/>
          </a:p>
        </p:txBody>
      </p:sp>
      <p:sp>
        <p:nvSpPr>
          <p:cNvPr id="4" name="Recurso /api/temperatura/"/>
          <p:cNvSpPr/>
          <p:nvPr/>
        </p:nvSpPr>
        <p:spPr>
          <a:xfrm>
            <a:off x="548640" y="132588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°C"/>
          <p:cNvSpPr/>
          <p:nvPr/>
        </p:nvSpPr>
        <p:spPr>
          <a:xfrm>
            <a:off x="777240" y="1508760"/>
            <a:ext cx="731520" cy="731520"/>
          </a:xfrm>
          <a:prstGeom prst="ellipse">
            <a:avLst/>
          </a:prstGeom>
          <a:solidFill>
            <a:srgbClr val="D65D0E"/>
          </a:solidFill>
          <a:ln w="12700">
            <a:solidFill>
              <a:srgbClr val="D65D0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5D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/api/temperatura/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celsiusAFahrenheit?valor=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fahrenheitACelsius?valor=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celsiusAKelvin?valor=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kelvinACelsius?valor=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fahrenheitAKelvin?valor=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kelvinAFahrenheit?valor=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526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bajo el cero absoluto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(−273.15 °C · −459.67 °F · 0 K)</a:t>
            </a:r>
            <a:endParaRPr lang="en-US" sz="1300" dirty="0"/>
          </a:p>
        </p:txBody>
      </p:sp>
      <p:sp>
        <p:nvSpPr>
          <p:cNvPr id="10" name="Recurso /api/longitud/"/>
          <p:cNvSpPr/>
          <p:nvPr/>
        </p:nvSpPr>
        <p:spPr>
          <a:xfrm>
            <a:off x="4297680" y="132588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Insignia m"/>
          <p:cNvSpPr/>
          <p:nvPr/>
        </p:nvSpPr>
        <p:spPr>
          <a:xfrm>
            <a:off x="4526280" y="1508760"/>
            <a:ext cx="731520" cy="731520"/>
          </a:xfrm>
          <a:prstGeom prst="ellipse">
            <a:avLst/>
          </a:prstGeom>
          <a:solidFill>
            <a:srgbClr val="1971C2"/>
          </a:solidFill>
          <a:ln w="12700">
            <a:solidFill>
              <a:srgbClr val="1971C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71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/api/longitud/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423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metrosAPies?valor=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piesAMetros?valor=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metrosAPulgadas?valor=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pulgadasAMetros?valor=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kilometrosAMillas?valor=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millasAKilometros?valor=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4526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negativa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ft = 0.3048 m · 1 mi = 1.609344 km</a:t>
            </a:r>
            <a:endParaRPr lang="en-US" sz="1300" dirty="0"/>
          </a:p>
        </p:txBody>
      </p:sp>
      <p:sp>
        <p:nvSpPr>
          <p:cNvPr id="16" name="Recurso /api/masa/"/>
          <p:cNvSpPr/>
          <p:nvPr/>
        </p:nvSpPr>
        <p:spPr>
          <a:xfrm>
            <a:off x="8046720" y="132588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7" name="Insignia kg"/>
          <p:cNvSpPr/>
          <p:nvPr/>
        </p:nvSpPr>
        <p:spPr>
          <a:xfrm>
            <a:off x="8275320" y="1508760"/>
            <a:ext cx="731520" cy="731520"/>
          </a:xfrm>
          <a:prstGeom prst="ellipse">
            <a:avLst/>
          </a:prstGeom>
          <a:solidFill>
            <a:srgbClr val="7C3AAD"/>
          </a:solidFill>
          <a:ln w="12700">
            <a:solidFill>
              <a:srgbClr val="7C3AA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7532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/api/masa/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275320" y="2423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kilogramosALibras?valor=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librasAKilogramos?valor=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gramosAOnzas?valor=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onzasAGramos?valor=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4526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negativa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lb = 0.45359237 kg · 1 oz = 28.349523125 g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POST /api/autenticacion/login  { usuario, clave }  → 200 | 401     ·     Errores: { codigo, mensaje }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viaja una conversión por REST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Petición</a:t>
            </a:r>
            <a:endParaRPr lang="en-US" sz="1800" dirty="0"/>
          </a:p>
        </p:txBody>
      </p:sp>
      <p:sp>
        <p:nvSpPr>
          <p:cNvPr id="5" name="Caja petición"/>
          <p:cNvSpPr/>
          <p:nvPr/>
        </p:nvSpPr>
        <p:spPr>
          <a:xfrm>
            <a:off x="548640" y="1645920"/>
            <a:ext cx="5486400" cy="3931920"/>
          </a:xfrm>
          <a:prstGeom prst="roundRect">
            <a:avLst>
              <a:gd name="adj" fmla="val 232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737360"/>
            <a:ext cx="5303520" cy="3749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/api/temperatura/celsiusAFahrenheit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?valor=100  HTTP/1.1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Host: 10.12.46.165:8086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Accept: application/json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/api/autenticacion/login  HTTP/1.1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Content-Type: application/json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"usuario": "monster",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"clave": "monster" }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800" dirty="0"/>
          </a:p>
        </p:txBody>
      </p:sp>
      <p:sp>
        <p:nvSpPr>
          <p:cNvPr id="8" name="Caja respuesta"/>
          <p:cNvSpPr/>
          <p:nvPr/>
        </p:nvSpPr>
        <p:spPr>
          <a:xfrm>
            <a:off x="6400800" y="1645920"/>
            <a:ext cx="5212080" cy="1463040"/>
          </a:xfrm>
          <a:prstGeom prst="roundRect">
            <a:avLst>
              <a:gd name="adj" fmla="val 6250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5029200" cy="132588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"categoria": "Temperatura",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"operacion": "celsiusAFahrenheit",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"valor": 100, "unidadOrigen": "°C",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"unidadDestino": "°F", "resultado": 212 }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3375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Bad Request (−300 °C)</a:t>
            </a:r>
            <a:endParaRPr lang="en-US" sz="1800" dirty="0"/>
          </a:p>
        </p:txBody>
      </p:sp>
      <p:sp>
        <p:nvSpPr>
          <p:cNvPr id="11" name="Caja error"/>
          <p:cNvSpPr/>
          <p:nvPr/>
        </p:nvSpPr>
        <p:spPr>
          <a:xfrm>
            <a:off x="6400800" y="374904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DF1EF"/>
          </a:solidFill>
          <a:ln w="12700">
            <a:solidFill>
              <a:srgbClr val="F2C4B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3840480"/>
            <a:ext cx="5029200" cy="16916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"codigo": "VALOR_INVALIDO",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"mensaje": "La temperatura no puede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ser menor al cero absoluto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(-273.15 °C)." }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401 → { "codigo": "CREDENCIALES_INVALIDAS" }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Swagger: el contrato vivo del API</a:t>
            </a:r>
            <a:endParaRPr lang="en-US" sz="3400" dirty="0"/>
          </a:p>
        </p:txBody>
      </p:sp>
      <p:sp>
        <p:nvSpPr>
          <p:cNvPr id="4" name="Marco Swagger: error 400"/>
          <p:cNvSpPr/>
          <p:nvPr/>
        </p:nvSpPr>
        <p:spPr>
          <a:xfrm>
            <a:off x="1395774" y="1197864"/>
            <a:ext cx="4340773" cy="5056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wagger: error 400" descr="Swagger: error 4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350" y="1234440"/>
            <a:ext cx="4267621" cy="49834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949440" y="1463040"/>
            <a:ext cx="4709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004A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http://servidor:8086/swagger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 por Swashbuckle desde los controladores y sus comentarios ///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out → Execute: muestra la URL real, el código HTTP y el JSON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OpenAPI en /swagger/v1/swagger.json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raíz del servidor redirige a /swagger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TI.1.2 (SOAP) al TI.1.4 (REST)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109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  <a:gridCol w="4709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Aspecto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SOAP · TI.1.2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REST · TI.1.4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Servidor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WCF · .NET Framework 4.7.2 · IIS :8085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ASP.NET Core Web API · .NET 9 · Kestrel :8086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Formato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Sobre SOAP en XML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JSON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Contrato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WSDL (?wsdl)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OpenAPI · Swagger (/swagger)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Invocación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POST + cabecera SOAPAction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Verbo HTTP + URL del recurso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Errores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SOAP Fault con ErrorServicio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Código HTTP + { codigo, mensaje }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Clientes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ChannelFactory o sobre XML a mano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HttpClient + JSON, sin paquetes extra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Red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Publicar en IIS (script)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Abrir el puerto 8086 en el firewall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</a:t>
            </a:r>
            <a:endParaRPr lang="en-US" sz="3400" dirty="0"/>
          </a:p>
        </p:txBody>
      </p:sp>
      <p:sp>
        <p:nvSpPr>
          <p:cNvPr id="4" name="Decisión 1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reutilizada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convertidores y validaciones del TI.1.2, sin cambios</a:t>
            </a:r>
            <a:endParaRPr lang="en-US" sz="1400" dirty="0"/>
          </a:p>
        </p:txBody>
      </p:sp>
      <p:sp>
        <p:nvSpPr>
          <p:cNvPr id="9" name="Decisión 2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0" name="Insignia 2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con código HTTP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valor inválido · 401 credenciales · cuerpo { codigo, mensaje }</a:t>
            </a:r>
            <a:endParaRPr lang="en-US" sz="1400" dirty="0"/>
          </a:p>
        </p:txBody>
      </p:sp>
      <p:sp>
        <p:nvSpPr>
          <p:cNvPr id="14" name="Decisión 3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5" name="Insignia 3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1971C2"/>
          </a:solidFill>
          <a:ln w="12700">
            <a:solidFill>
              <a:srgbClr val="1971C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00684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en el cuerpo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login es POST con JSON: la clave nunca viaja en la URL</a:t>
            </a:r>
            <a:endParaRPr lang="en-US" sz="1400" dirty="0"/>
          </a:p>
        </p:txBody>
      </p:sp>
      <p:sp>
        <p:nvSpPr>
          <p:cNvPr id="19" name="Decisión 4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0" name="Insignia 4"/>
          <p:cNvSpPr/>
          <p:nvPr/>
        </p:nvSpPr>
        <p:spPr>
          <a:xfrm>
            <a:off x="777240" y="3977640"/>
            <a:ext cx="594360" cy="594360"/>
          </a:xfrm>
          <a:prstGeom prst="ellipse">
            <a:avLst/>
          </a:prstGeom>
          <a:solidFill>
            <a:srgbClr val="D65D0E"/>
          </a:solidFill>
          <a:ln w="12700">
            <a:solidFill>
              <a:srgbClr val="D65D0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50876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paquetes en clientes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HttpClient + JSON incluidos en .NET Framework, .NET 8 y MAUI</a:t>
            </a:r>
            <a:endParaRPr lang="en-US" sz="1400" dirty="0"/>
          </a:p>
        </p:txBody>
      </p:sp>
      <p:sp>
        <p:nvSpPr>
          <p:cNvPr id="24" name="Decisión 5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5" name="Insignia 5"/>
          <p:cNvSpPr/>
          <p:nvPr/>
        </p:nvSpPr>
        <p:spPr>
          <a:xfrm>
            <a:off x="4526280" y="3977640"/>
            <a:ext cx="594360" cy="594360"/>
          </a:xfrm>
          <a:prstGeom prst="ellipse">
            <a:avLst/>
          </a:prstGeom>
          <a:solidFill>
            <a:srgbClr val="7C3AAD"/>
          </a:solidFill>
          <a:ln w="12700">
            <a:solidFill>
              <a:srgbClr val="7C3AA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2628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525780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sin IIS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52628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Kestrel en http://*:8086 y un script que abre el firewall</a:t>
            </a:r>
            <a:endParaRPr lang="en-US" sz="1400" dirty="0"/>
          </a:p>
        </p:txBody>
      </p:sp>
      <p:sp>
        <p:nvSpPr>
          <p:cNvPr id="29" name="Decisión 6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0" name="Insignia 6"/>
          <p:cNvSpPr/>
          <p:nvPr/>
        </p:nvSpPr>
        <p:spPr>
          <a:xfrm>
            <a:off x="8275320" y="3977640"/>
            <a:ext cx="594360" cy="594360"/>
          </a:xfrm>
          <a:prstGeom prst="ellipse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7532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00684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Singleton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Autenticador, ClienteConversion y ClienteRest con una sola instancia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 consola · CLICON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Framework 4.7.2 · HttpClient · DataContractJsonSerializer · MVC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con clave oculta y 3 intentos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→ «Usuario o clave incorrectos»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de categorías y conversiones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 coma o punto decimal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del servidor en App.config</a:t>
            </a:r>
            <a:endParaRPr lang="en-US" sz="1500" dirty="0"/>
          </a:p>
        </p:txBody>
      </p:sp>
      <p:sp>
        <p:nvSpPr>
          <p:cNvPr id="6" name="Marco Resultado en la consola"/>
          <p:cNvSpPr/>
          <p:nvPr/>
        </p:nvSpPr>
        <p:spPr>
          <a:xfrm>
            <a:off x="5684955" y="1609344"/>
            <a:ext cx="4677809" cy="2221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Resultado en la consola" descr="Resultado en la cons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1531" y="1645920"/>
            <a:ext cx="4604657" cy="2148840"/>
          </a:xfrm>
          <a:prstGeom prst="rect">
            <a:avLst/>
          </a:prstGeom>
        </p:spPr>
      </p:pic>
      <p:sp>
        <p:nvSpPr>
          <p:cNvPr id="8" name="Marco Error 400 en la consola"/>
          <p:cNvSpPr/>
          <p:nvPr/>
        </p:nvSpPr>
        <p:spPr>
          <a:xfrm>
            <a:off x="5586984" y="3941064"/>
            <a:ext cx="4873752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Error 400 en la consola" descr="Error 400 en la conso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977640"/>
            <a:ext cx="4800600" cy="2240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 escritorio · CLIESC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5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Forms · .NET Framework 4.7.2 · llamadas asíncronas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lateral con color por categoría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De / A: solo destinos válidos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⇄ para intercambiar unidades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la sesión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del servidor en rojo</a:t>
            </a:r>
            <a:endParaRPr lang="en-US" sz="1500" dirty="0"/>
          </a:p>
        </p:txBody>
      </p:sp>
      <p:sp>
        <p:nvSpPr>
          <p:cNvPr id="6" name="Marco Escritorio: error del servidor"/>
          <p:cNvSpPr/>
          <p:nvPr/>
        </p:nvSpPr>
        <p:spPr>
          <a:xfrm>
            <a:off x="4352544" y="2103983"/>
            <a:ext cx="7342632" cy="365587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Escritorio: error del servidor" descr="Escritorio: error del servi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140559"/>
            <a:ext cx="7269480" cy="358272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web · CLIWEB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MVC · .NET 8 · HttpClient + System.Net.Http.Json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Sesión: sin login no se entra a /Conversion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PostAsJsonAsync y GetAsync asíncronos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antifalsificación en formularios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guardado en la sesión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adaptable a celular</a:t>
            </a:r>
            <a:endParaRPr lang="en-US" sz="1500" dirty="0"/>
          </a:p>
        </p:txBody>
      </p:sp>
      <p:sp>
        <p:nvSpPr>
          <p:cNvPr id="6" name="Marco Web: valor rechazado por el servidor"/>
          <p:cNvSpPr/>
          <p:nvPr/>
        </p:nvSpPr>
        <p:spPr>
          <a:xfrm>
            <a:off x="4352544" y="2209419"/>
            <a:ext cx="5468112" cy="344500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Web: valor rechazado por el servidor" descr="Web: valor rechazado por el servi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245995"/>
            <a:ext cx="5394960" cy="3371850"/>
          </a:xfrm>
          <a:prstGeom prst="rect">
            <a:avLst/>
          </a:prstGeom>
        </p:spPr>
      </p:pic>
      <p:sp>
        <p:nvSpPr>
          <p:cNvPr id="8" name="Marco Web en celular"/>
          <p:cNvSpPr/>
          <p:nvPr/>
        </p:nvSpPr>
        <p:spPr>
          <a:xfrm>
            <a:off x="10103989" y="1655064"/>
            <a:ext cx="1463302" cy="4553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Web en celular" descr="Web en celul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0565" y="1691640"/>
            <a:ext cx="139015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móvil · CLIMOV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MAUI (sucesor de Xamarin) · C# · Android · HttpClient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en una tablet Samsung real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cable (adb reverse) y por WiFi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con System.Net.Http.Json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Singleton: ClienteRest y Controlador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del servidor guardada en la app</a:t>
            </a:r>
            <a:endParaRPr lang="en-US" sz="1500" dirty="0"/>
          </a:p>
        </p:txBody>
      </p:sp>
      <p:sp>
        <p:nvSpPr>
          <p:cNvPr id="6" name="Caja código móvil"/>
          <p:cNvSpPr/>
          <p:nvPr/>
        </p:nvSpPr>
        <p:spPr>
          <a:xfrm>
            <a:off x="4389120" y="1691640"/>
            <a:ext cx="7269480" cy="1920240"/>
          </a:xfrm>
          <a:prstGeom prst="roundRect">
            <a:avLst>
              <a:gd name="adj" fmla="val 4762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480560" y="1783080"/>
            <a:ext cx="7086600" cy="17373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var r = await _http.PostAsJsonAsync(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Uri(base_, "api/autenticacion/login"), new SolicitudLogin(usuario, clave));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(r.StatusCode == HttpStatusCode.Unauthorized) return false;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var c = await _http.GetAsync(new Uri(base_, $"api/{ruta}?valor={valor}"));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(await c.Content.ReadFromJsonAsync&lt;RespuestaConversion&gt;()).Resultado;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red por roles</a:t>
            </a:r>
            <a:endParaRPr lang="en-US" sz="3400" dirty="0"/>
          </a:p>
        </p:txBody>
      </p:sp>
      <p:sp>
        <p:nvSpPr>
          <p:cNvPr id="4" name="Rol 1"/>
          <p:cNvSpPr/>
          <p:nvPr/>
        </p:nvSpPr>
        <p:spPr>
          <a:xfrm>
            <a:off x="54864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+ consola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5603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+ F5 en Visual Studio (Kestrel en http://*:8086) y abrir_puerto_red.ps1 una vez</a:t>
            </a:r>
            <a:endParaRPr lang="en-US" sz="1500" dirty="0"/>
          </a:p>
        </p:txBody>
      </p:sp>
      <p:sp>
        <p:nvSpPr>
          <p:cNvPr id="10" name="Rol 2"/>
          <p:cNvSpPr/>
          <p:nvPr/>
        </p:nvSpPr>
        <p:spPr>
          <a:xfrm>
            <a:off x="429768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Insignia 2"/>
          <p:cNvSpPr/>
          <p:nvPr/>
        </p:nvSpPr>
        <p:spPr>
          <a:xfrm>
            <a:off x="4526280" y="1600200"/>
            <a:ext cx="640080" cy="640080"/>
          </a:xfrm>
          <a:prstGeom prst="ellipse">
            <a:avLst/>
          </a:prstGeom>
          <a:solidFill>
            <a:srgbClr val="1971C2"/>
          </a:solidFill>
          <a:ln w="12700">
            <a:solidFill>
              <a:srgbClr val="1971C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escritorio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25603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 PC: App.config y appsettings.json con la IP del servidor</a:t>
            </a:r>
            <a:endParaRPr lang="en-US" sz="1500" dirty="0"/>
          </a:p>
        </p:txBody>
      </p:sp>
      <p:sp>
        <p:nvSpPr>
          <p:cNvPr id="16" name="Rol 3"/>
          <p:cNvSpPr/>
          <p:nvPr/>
        </p:nvSpPr>
        <p:spPr>
          <a:xfrm>
            <a:off x="804672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7" name="Insignia 3"/>
          <p:cNvSpPr/>
          <p:nvPr/>
        </p:nvSpPr>
        <p:spPr>
          <a:xfrm>
            <a:off x="8275320" y="1600200"/>
            <a:ext cx="640080" cy="640080"/>
          </a:xfrm>
          <a:prstGeom prst="ellipse">
            <a:avLst/>
          </a:prstGeom>
          <a:solidFill>
            <a:srgbClr val="7C3AAD"/>
          </a:solidFill>
          <a:ln w="12700">
            <a:solidFill>
              <a:srgbClr val="7C3AA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753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Móvil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25603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 real por WiFi: URL del servidor en el login de la app</a:t>
            </a:r>
            <a:endParaRPr lang="en-US" sz="1500" dirty="0"/>
          </a:p>
        </p:txBody>
      </p:sp>
      <p:sp>
        <p:nvSpPr>
          <p:cNvPr id="22" name="Caja URL"/>
          <p:cNvSpPr/>
          <p:nvPr/>
        </p:nvSpPr>
        <p:spPr>
          <a:xfrm>
            <a:off x="548640" y="4434840"/>
            <a:ext cx="11109960" cy="1051560"/>
          </a:xfrm>
          <a:prstGeom prst="roundRect">
            <a:avLst>
              <a:gd name="adj" fmla="val 869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4434840"/>
            <a:ext cx="11109960" cy="10515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4A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http://IP-DEL-SERVIDOR:8086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692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rápida desde cualquier equipo: http://IP-DEL-SERVIDOR:8086/swagger. Todos en la misma red WiFi.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3400" dirty="0"/>
          </a:p>
        </p:txBody>
      </p:sp>
      <p:pic>
        <p:nvPicPr>
          <p:cNvPr id="4" name="Diagrama de casos de uso" descr="Diagrama de casos de u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926" y="1234440"/>
            <a:ext cx="6759507" cy="49834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321040" y="1463040"/>
            <a:ext cx="33375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casos de uso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conversión generaliza temperatura, longitud y masa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la validación del valor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Intercambiar unidades la extiende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API REST es un actor secundario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realizadas</a:t>
            </a:r>
            <a:endParaRPr lang="en-US" sz="3400" dirty="0"/>
          </a:p>
        </p:txBody>
      </p:sp>
      <p:sp>
        <p:nvSpPr>
          <p:cNvPr id="4" name="Resumen pruebas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9202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6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15/15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 superados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en red WiFi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371600"/>
          <a:ext cx="7726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57400"/>
                <a:gridCol w="2926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Resultado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Login correcto / incorrecto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monster / clave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200 · 401 «Usuario o clave incorrectos»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Celsius → Fahrenheit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212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Coma decimal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36,5 °C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97.7 °F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Kilómetros → Millas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6.213712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Kilogramos → Libras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2.204623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Cero absoluto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−300 °C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400 VALOR_INVALIDO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Valor no numérico al API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?valor=abc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400 VALOR_INVALIDO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Servidor apagado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puerto sin servicio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«No se pudo conectar…»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En red, 3 equipos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IP de Wi-Fi :8086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Consola, escritorio, web y móvil 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4000" dirty="0"/>
          </a:p>
        </p:txBody>
      </p:sp>
      <p:sp>
        <p:nvSpPr>
          <p:cNvPr id="3" name="Insignia 1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92024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REST, .NET Framework, .NET 8 y .NET MAUI consumen el mismo API solo con HttpClient y JSON.</a:t>
            </a:r>
            <a:endParaRPr lang="en-US" sz="2100" dirty="0"/>
          </a:p>
        </p:txBody>
      </p:sp>
      <p:sp>
        <p:nvSpPr>
          <p:cNvPr id="6" name="Insignia 2"/>
          <p:cNvSpPr/>
          <p:nvPr/>
        </p:nvSpPr>
        <p:spPr>
          <a:xfrm>
            <a:off x="731520" y="306324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97180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en capas permitió pasar de SOAP a REST sin tocar la lógica de conversión.</a:t>
            </a:r>
            <a:endParaRPr lang="en-US" sz="2100" dirty="0"/>
          </a:p>
        </p:txBody>
      </p:sp>
      <p:sp>
        <p:nvSpPr>
          <p:cNvPr id="9" name="Insignia 3"/>
          <p:cNvSpPr/>
          <p:nvPr/>
        </p:nvSpPr>
        <p:spPr>
          <a:xfrm>
            <a:off x="731520" y="411480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402336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HTTP y un error JSON uniforme dan mensajes claros en los cuatro clientes.</a:t>
            </a:r>
            <a:endParaRPr lang="en-US" sz="2100" dirty="0"/>
          </a:p>
        </p:txBody>
      </p:sp>
      <p:sp>
        <p:nvSpPr>
          <p:cNvPr id="12" name="Insignia 4"/>
          <p:cNvSpPr/>
          <p:nvPr/>
        </p:nvSpPr>
        <p:spPr>
          <a:xfrm>
            <a:off x="731520" y="516636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507492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sirvió como contrato y como herramienta de pruebas; Kestrel simplificó el despliegue en red.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ESPE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Conversor de Unidades RESTful .NET</dc:title>
  <dc:subject>PptxGenJS Presentation</dc:subject>
  <dc:creator>Grupo 1</dc:creator>
  <cp:lastModifiedBy>Grupo 1</cp:lastModifiedBy>
  <cp:revision>1</cp:revision>
  <dcterms:created xsi:type="dcterms:W3CDTF">2026-10-24T17:26:39Z</dcterms:created>
  <dcterms:modified xsi:type="dcterms:W3CDTF">2026-10-24T17:26:39Z</dcterms:modified>
</cp:coreProperties>
</file>