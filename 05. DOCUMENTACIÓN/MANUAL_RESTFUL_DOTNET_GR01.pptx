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dbf34c7-db4b-e329-215e-69403485cc0a}">
          <p14:sldIdLst>
            <p14:sldId id="256"/>
          </p14:sldIdLst>
        </p14:section>
        <p14:section name="Solución" id="{b0d56f0b-c5d1-3c95-779c-817e1a97e2b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lientes" id="{d0cbc7f9-458a-61c6-af2c-2ae1a025b79c}">
          <p14:sldIdLst>
            <p14:sldId id="264"/>
            <p14:sldId id="265"/>
            <p14:sldId id="266"/>
            <p14:sldId id="267"/>
            <p14:sldId id="268"/>
          </p14:sldIdLst>
        </p14:section>
        <p14:section name="Calidad" id="{6b5e5333-9205-c563-7ea1-ef74b1366944}">
          <p14:sldIdLst>
            <p14:sldId id="269"/>
            <p14:sldId id="270"/>
          </p14:sldIdLst>
        </p14:section>
        <p14:section name="Cierre" id="{90739ffe-aa53-d6a1-2626-f81f5303cd2f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TI.1.4: un API REST en .NET sin base de datos y cuatro clientes que lo consumen. Es la versión REST del TI.1.2 SOAP.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lógica está en un solo lugar (el servidor) y cuatro tecnologías distintas la consumen por HTTP y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clientes hablan HTTP con el API publicado en IIS :8086. El servidor se organiza en Controllers, Modelo y Lógica; las credenciales están en appsettings.json.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conversión es un recurso GET con el parámetro 'valor'. El login es un POST con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izquierda, la petición que envían los clientes. A la derecha, la respuesta 200 y el error 400 cuando el valor es imposible.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Swagger reemplaza al WSDL: describe el API con OpenAPI y permite probar cada recurso desde el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Lógica no cambió: solo la forma de exponerla y la clase Servicio de cada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Mejoras que hacen al sistema más correcto, más fácil de mantener y más claro para el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más simple: sirve para comprobar que el API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clase PanelConversion sirve para las tres categorías; el ClienteConversion es el mismo de la consola.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diseño que el escritorio; en celular el menú pasa arriba.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 «Conversor REST» instalada en una tablet; convive con la app SOAP del TI.1.2.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usa su propio equipo; el servidor abre el puerto 8086 y los clientes apuntan a la IP de Wi-Fi de la PC del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en el ECUD: actores, flujos básicos y alternos de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en una sola PC (tablet por cable con adb reverse) y luego en red con la IP de Wi-Fi.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0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 · Arquitectura de Software · Conversor de Unidades RESTful .NET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ignia ⇄"/>
          <p:cNvSpPr/>
          <p:nvPr/>
        </p:nvSpPr>
        <p:spPr>
          <a:xfrm>
            <a:off x="731520" y="731520"/>
            <a:ext cx="1005840" cy="100584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868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· ARQUITECTURA DE SOFTWARE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234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TI.1.4 · PAO 2026-51 · NRC 36884 · Grupo 1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 de Unidades RESTful .NET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sin base de datos para temperatura, longitud y masa, con clientes de consola, escritorio, web y móvil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Wilmer Buestan · Jefferson Masapanta · Moises Benalcazar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Eduardo Mauricio Campaña Ortega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28/10/2026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API, cuatro clientes</a:t>
            </a:r>
            <a:endParaRPr lang="en-US" sz="3400" dirty="0"/>
          </a:p>
        </p:txBody>
      </p:sp>
      <p:sp>
        <p:nvSpPr>
          <p:cNvPr id="4" name="Cifra 1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6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.NET 9</a:t>
            </a:r>
            <a:endParaRPr lang="en-US" sz="1600" dirty="0"/>
          </a:p>
        </p:txBody>
      </p:sp>
      <p:sp>
        <p:nvSpPr>
          <p:cNvPr id="7" name="Cifra 4"/>
          <p:cNvSpPr/>
          <p:nvPr/>
        </p:nvSpPr>
        <p:spPr>
          <a:xfrm>
            <a:off x="3364992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64992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consola,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escritorio, web y móvil</a:t>
            </a:r>
            <a:endParaRPr lang="en-US" sz="1600" dirty="0"/>
          </a:p>
        </p:txBody>
      </p:sp>
      <p:sp>
        <p:nvSpPr>
          <p:cNvPr id="10" name="Cifra 17"/>
          <p:cNvSpPr/>
          <p:nvPr/>
        </p:nvSpPr>
        <p:spPr>
          <a:xfrm>
            <a:off x="6181344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1344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D65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66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login +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conversiones</a:t>
            </a:r>
            <a:endParaRPr lang="en-US" sz="1600" dirty="0"/>
          </a:p>
        </p:txBody>
      </p:sp>
      <p:sp>
        <p:nvSpPr>
          <p:cNvPr id="13" name="Cifra 0"/>
          <p:cNvSpPr/>
          <p:nvPr/>
        </p:nvSpPr>
        <p:spPr>
          <a:xfrm>
            <a:off x="8997696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97696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7C3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9134856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memoria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exponer la misma lógica del TI.1.2 como recursos REST: .NET Framework, .NET 8 y .NET MAUI la consumen solo con HttpClient y JSON.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400" dirty="0"/>
          </a:p>
        </p:txBody>
      </p:sp>
      <p:pic>
        <p:nvPicPr>
          <p:cNvPr id="4" name="Diagrama de arquitectura" descr="Diagrama de 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269" y="1234440"/>
            <a:ext cx="5612183" cy="4983480"/>
          </a:xfrm>
          <a:prstGeom prst="rect">
            <a:avLst/>
          </a:prstGeom>
        </p:spPr>
      </p:pic>
      <p:sp>
        <p:nvSpPr>
          <p:cNvPr id="5" name="Insignia 1"/>
          <p:cNvSpPr/>
          <p:nvPr/>
        </p:nvSpPr>
        <p:spPr>
          <a:xfrm>
            <a:off x="7863840" y="1417320"/>
            <a:ext cx="548640" cy="54864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63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HTTP sobre recursos, IIS :8086</a:t>
            </a:r>
            <a:endParaRPr lang="en-US" sz="1400" dirty="0"/>
          </a:p>
        </p:txBody>
      </p:sp>
      <p:sp>
        <p:nvSpPr>
          <p:cNvPr id="9" name="Insignia 2"/>
          <p:cNvSpPr/>
          <p:nvPr/>
        </p:nvSpPr>
        <p:spPr>
          <a:xfrm>
            <a:off x="7863840" y="2606040"/>
            <a:ext cx="548640" cy="54864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/swagger documenta y prueba el API (OpenAPI)</a:t>
            </a:r>
            <a:endParaRPr lang="en-US" sz="1400" dirty="0"/>
          </a:p>
        </p:txBody>
      </p:sp>
      <p:sp>
        <p:nvSpPr>
          <p:cNvPr id="13" name="Insignia 3"/>
          <p:cNvSpPr/>
          <p:nvPr/>
        </p:nvSpPr>
        <p:spPr>
          <a:xfrm>
            <a:off x="7863840" y="3794760"/>
            <a:ext cx="548640" cy="548640"/>
          </a:xfrm>
          <a:prstGeom prst="ellipse">
            <a:avLst/>
          </a:prstGeom>
          <a:solidFill>
            <a:srgbClr val="D65D0E"/>
          </a:solidFill>
          <a:ln w="12700">
            <a:solidFill>
              <a:srgbClr val="D65D0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→ Lógica (la misma del TI.1.2)</a:t>
            </a:r>
            <a:endParaRPr lang="en-US" sz="1400" dirty="0"/>
          </a:p>
        </p:txBody>
      </p:sp>
      <p:sp>
        <p:nvSpPr>
          <p:cNvPr id="17" name="Insignia 4"/>
          <p:cNvSpPr/>
          <p:nvPr/>
        </p:nvSpPr>
        <p:spPr>
          <a:xfrm>
            <a:off x="7863840" y="4983480"/>
            <a:ext cx="548640" cy="548640"/>
          </a:xfrm>
          <a:prstGeom prst="ellipse">
            <a:avLst/>
          </a:prstGeom>
          <a:solidFill>
            <a:srgbClr val="7C3AAD"/>
          </a:solidFill>
          <a:ln w="12700">
            <a:solidFill>
              <a:srgbClr val="7C3AA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638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59536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BDD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en appsettings.json, cálculo en memoria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del API</a:t>
            </a:r>
            <a:endParaRPr lang="en-US" sz="3400" dirty="0"/>
          </a:p>
        </p:txBody>
      </p:sp>
      <p:sp>
        <p:nvSpPr>
          <p:cNvPr id="4" name="Recurso /api/temperatura/"/>
          <p:cNvSpPr/>
          <p:nvPr/>
        </p:nvSpPr>
        <p:spPr>
          <a:xfrm>
            <a:off x="54864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°C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rgbClr val="D65D0E"/>
          </a:solidFill>
          <a:ln w="12700">
            <a:solidFill>
              <a:srgbClr val="D65D0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5D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/api/temperatura/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celsiusAFahrenheit?valor=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fahrenheitACelsius?valor=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celsiusAKelvin?valor=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kelvinACelsius?valor=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fahrenheitAKelvin?valor=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kelvinAFahrenheit?valor=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bajo el cero absoluto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(−273.15 °C · −459.67 °F · 0 K)</a:t>
            </a:r>
            <a:endParaRPr lang="en-US" sz="1300" dirty="0"/>
          </a:p>
        </p:txBody>
      </p:sp>
      <p:sp>
        <p:nvSpPr>
          <p:cNvPr id="10" name="Recurso /api/longitud/"/>
          <p:cNvSpPr/>
          <p:nvPr/>
        </p:nvSpPr>
        <p:spPr>
          <a:xfrm>
            <a:off x="429768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Insignia m"/>
          <p:cNvSpPr/>
          <p:nvPr/>
        </p:nvSpPr>
        <p:spPr>
          <a:xfrm>
            <a:off x="4526280" y="1508760"/>
            <a:ext cx="731520" cy="73152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7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/api/longitud/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metrosAPies?valor=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piesAMetros?valor=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metrosAPulgadas?valor=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pulgadasAMetros?valor=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kilometrosAMillas?valor=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millasAKilometros?valor=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ft = 0.3048 m · 1 mi = 1.609344 km</a:t>
            </a:r>
            <a:endParaRPr lang="en-US" sz="1300" dirty="0"/>
          </a:p>
        </p:txBody>
      </p:sp>
      <p:sp>
        <p:nvSpPr>
          <p:cNvPr id="16" name="Recurso /api/masa/"/>
          <p:cNvSpPr/>
          <p:nvPr/>
        </p:nvSpPr>
        <p:spPr>
          <a:xfrm>
            <a:off x="804672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Insignia kg"/>
          <p:cNvSpPr/>
          <p:nvPr/>
        </p:nvSpPr>
        <p:spPr>
          <a:xfrm>
            <a:off x="8275320" y="1508760"/>
            <a:ext cx="731520" cy="731520"/>
          </a:xfrm>
          <a:prstGeom prst="ellipse">
            <a:avLst/>
          </a:prstGeom>
          <a:solidFill>
            <a:srgbClr val="7C3AAD"/>
          </a:solidFill>
          <a:ln w="12700">
            <a:solidFill>
              <a:srgbClr val="7C3AA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/api/masa/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kilogramosALibras?valor=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librasAKilogramos?valor=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gramosAOnzas?valor=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onzasAGramos?valor=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lb = 0.45359237 kg · 1 oz = 28.349523125 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 /api/autenticacion/login  { usuario, clave }  → 200 | 401     ·     Errores: { codigo, mensaje 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viaja una conversión por REST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1800" dirty="0"/>
          </a:p>
        </p:txBody>
      </p:sp>
      <p:sp>
        <p:nvSpPr>
          <p:cNvPr id="5" name="Caja petición"/>
          <p:cNvSpPr/>
          <p:nvPr/>
        </p:nvSpPr>
        <p:spPr>
          <a:xfrm>
            <a:off x="548640" y="164592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37360"/>
            <a:ext cx="5303520" cy="37490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/api/temperatura/celsiusAFahrenheit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?valor=100  HTTP/1.1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IP-DEL-SERVIDOR:8086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/api/autenticacion/login  HTTP/1.1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"usuario": "monster",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"clave": "monster69" }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1800" dirty="0"/>
          </a:p>
        </p:txBody>
      </p:sp>
      <p:sp>
        <p:nvSpPr>
          <p:cNvPr id="8" name="Caja respuesta"/>
          <p:cNvSpPr/>
          <p:nvPr/>
        </p:nvSpPr>
        <p:spPr>
          <a:xfrm>
            <a:off x="6400800" y="164592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737360"/>
            <a:ext cx="5029200" cy="132588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"categoria": "Temperatura",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"operacion": "celsiusAFahrenheit",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"valor": 100, "unidadOrigen": "°C",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"unidadDestino": "°F", "resultado": 212 }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337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(−300 °C)</a:t>
            </a:r>
            <a:endParaRPr lang="en-US" sz="1800" dirty="0"/>
          </a:p>
        </p:txBody>
      </p:sp>
      <p:sp>
        <p:nvSpPr>
          <p:cNvPr id="11" name="Caja error"/>
          <p:cNvSpPr/>
          <p:nvPr/>
        </p:nvSpPr>
        <p:spPr>
          <a:xfrm>
            <a:off x="6400800" y="37490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DF1EF"/>
          </a:solidFill>
          <a:ln w="12700">
            <a:solidFill>
              <a:srgbClr val="F2C4B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3840480"/>
            <a:ext cx="5029200" cy="16916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"codigo": "VALOR_INVALIDO",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"mensaje": "La temperatura no puede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ser menor al cero absoluto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(-273.15 °C)." 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 → { "codigo": "REGLA_NEGOCIO",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"mensaje": "...Intentos restantes: 2." 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Swagger: el contrato vivo del API</a:t>
            </a:r>
            <a:endParaRPr lang="en-US" sz="3400" dirty="0"/>
          </a:p>
        </p:txBody>
      </p:sp>
      <p:sp>
        <p:nvSpPr>
          <p:cNvPr id="4" name="Marco Swagger: error 400"/>
          <p:cNvSpPr/>
          <p:nvPr/>
        </p:nvSpPr>
        <p:spPr>
          <a:xfrm>
            <a:off x="1416207" y="1197864"/>
            <a:ext cx="4299907" cy="5056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Swagger: error 400" descr="Swagger: error 4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783" y="1234440"/>
            <a:ext cx="4226755" cy="4983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49440" y="1463040"/>
            <a:ext cx="4709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http://servidor:8086/swagger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por Swashbuckle desde los controladores y sus comentarios ///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out → Execute: muestra la URL real, el código HTTP y el JSON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OpenAPI en /swagger/v1/swagger.json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raíz del servidor redirige a /swagger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TI.1.2 (SOAP) al TI.1.4 (REST)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709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SOAP · TI.1.2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REST · TI.1.4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Servidor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WCF · .NET Framework 4.7.2 · IIS :8085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ASP.NET Core Web API · .NET 9 · IIS :8086 (Hosting Bundle)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Formato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Sobre SOAP en XML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JSON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Contrato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WSDL (?wsdl)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OpenAPI · Swagger (/swagger)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Invocación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POST + cabecera SOAPAction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Verbo HTTP + URL del recurso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Errores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SOAP Fault con ErrorServicio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Código HTTP + { codigo, mensaje }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Clientes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ChannelFactory o sobre XML a mano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HttpClient + JSON, sin paquetes extra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Red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Publicar en IIS (script)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12529"/>
                          </a:solidFill>
                        </a:rPr>
                        <a:t>Publicar en IIS con el Hosting Bundle (script)</a:t>
                      </a:r>
                      <a:endParaRPr lang="en-US" sz="15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3400" dirty="0"/>
          </a:p>
        </p:txBody>
      </p:sp>
      <p:sp>
        <p:nvSpPr>
          <p:cNvPr id="4" name="Decisión 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reutilizada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convertidores y validaciones del TI.1.2, sin cambios</a:t>
            </a:r>
            <a:endParaRPr lang="en-US" sz="1400" dirty="0"/>
          </a:p>
        </p:txBody>
      </p:sp>
      <p:sp>
        <p:nvSpPr>
          <p:cNvPr id="9" name="Decisión 2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Insignia 2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con código HTTP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valor inválido · 401 credenciales · cuerpo { codigo, mensaje }</a:t>
            </a:r>
            <a:endParaRPr lang="en-US" sz="1400" dirty="0"/>
          </a:p>
        </p:txBody>
      </p:sp>
      <p:sp>
        <p:nvSpPr>
          <p:cNvPr id="14" name="Decisión 3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Insignia 3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en el cuerpo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login es POST con JSON: la clave nunca viaja en la URL</a:t>
            </a:r>
            <a:endParaRPr lang="en-US" sz="1400" dirty="0"/>
          </a:p>
        </p:txBody>
      </p:sp>
      <p:sp>
        <p:nvSpPr>
          <p:cNvPr id="19" name="Decisión 4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Insignia 4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D65D0E"/>
          </a:solidFill>
          <a:ln w="12700">
            <a:solidFill>
              <a:srgbClr val="D65D0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paquetes en clientes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+ JSON incluidos en .NET Framework, .NET 8 y MAUI</a:t>
            </a:r>
            <a:endParaRPr lang="en-US" sz="1400" dirty="0"/>
          </a:p>
        </p:txBody>
      </p:sp>
      <p:sp>
        <p:nvSpPr>
          <p:cNvPr id="24" name="Decisión 5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Insignia 5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7C3AAD"/>
          </a:solidFill>
          <a:ln w="12700">
            <a:solidFill>
              <a:srgbClr val="7C3AA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 IIS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CONUNI_REST :8086 con publicar_iis.ps1; encendido siempre</a:t>
            </a:r>
            <a:endParaRPr lang="en-US" sz="1400" dirty="0"/>
          </a:p>
        </p:txBody>
      </p:sp>
      <p:sp>
        <p:nvSpPr>
          <p:cNvPr id="29" name="Decisión 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Insignia 6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Singleton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Autenticador, ClienteConversion y ClienteRest con una sola instancia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consola · CLICON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 4.7.2 · HttpClient · DataContractJsonSerializer · MVC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clave oculta (los 3 intentos los cuenta el servidor)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→ «Intentos restantes: N»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categorías y conversiones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coma o punto decimal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servidor en App.config</a:t>
            </a:r>
            <a:endParaRPr lang="en-US" sz="1500" dirty="0"/>
          </a:p>
        </p:txBody>
      </p:sp>
      <p:sp>
        <p:nvSpPr>
          <p:cNvPr id="6" name="Marco Resultado en la consola"/>
          <p:cNvSpPr/>
          <p:nvPr/>
        </p:nvSpPr>
        <p:spPr>
          <a:xfrm>
            <a:off x="6375654" y="1609344"/>
            <a:ext cx="3296412" cy="2221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Resultado en la consola" descr="Resultado en la cons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2230" y="1645920"/>
            <a:ext cx="3223260" cy="2148840"/>
          </a:xfrm>
          <a:prstGeom prst="rect">
            <a:avLst/>
          </a:prstGeom>
        </p:spPr>
      </p:pic>
      <p:sp>
        <p:nvSpPr>
          <p:cNvPr id="8" name="Marco Error 400 en la consola"/>
          <p:cNvSpPr/>
          <p:nvPr/>
        </p:nvSpPr>
        <p:spPr>
          <a:xfrm>
            <a:off x="6307074" y="3941064"/>
            <a:ext cx="3433572" cy="2313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Error 400 en la consola" descr="Error 400 en la conso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50" y="3977640"/>
            <a:ext cx="3360420" cy="2240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escritorio · CLIESC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5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· .NET Framework 4.7.2 · llamadas asíncronas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Cuadrícula Bento con color por categoría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/ A: solo destinos válidos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⇄ para intercambiar unidades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la sesión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del servidor en rojo</a:t>
            </a:r>
            <a:endParaRPr lang="en-US" sz="1500" dirty="0"/>
          </a:p>
        </p:txBody>
      </p:sp>
      <p:sp>
        <p:nvSpPr>
          <p:cNvPr id="6" name="Marco Escritorio: error del servidor"/>
          <p:cNvSpPr/>
          <p:nvPr/>
        </p:nvSpPr>
        <p:spPr>
          <a:xfrm>
            <a:off x="4352544" y="1700966"/>
            <a:ext cx="7342632" cy="4461907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Escritorio: error del servidor" descr="Escritorio: error del servi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737542"/>
            <a:ext cx="7269480" cy="438875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 · CLIWEB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· .NET 8 · HttpClient + System.Net.Http.Json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Sesión: sin login no se entra a /Conversion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PostAsJsonAsync y GetAsync asíncronos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antifalsificación en formularios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guardado en la sesión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 a celular</a:t>
            </a:r>
            <a:endParaRPr lang="en-US" sz="1500" dirty="0"/>
          </a:p>
        </p:txBody>
      </p:sp>
      <p:sp>
        <p:nvSpPr>
          <p:cNvPr id="6" name="Marco Web: valor rechazado por el servidor"/>
          <p:cNvSpPr/>
          <p:nvPr/>
        </p:nvSpPr>
        <p:spPr>
          <a:xfrm>
            <a:off x="4352544" y="2209419"/>
            <a:ext cx="5468112" cy="3445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Web: valor rechazado por el servidor" descr="Web: valor rechazado por el servi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245995"/>
            <a:ext cx="5394960" cy="3371850"/>
          </a:xfrm>
          <a:prstGeom prst="rect">
            <a:avLst/>
          </a:prstGeom>
        </p:spPr>
      </p:pic>
      <p:sp>
        <p:nvSpPr>
          <p:cNvPr id="8" name="Marco Web en celular"/>
          <p:cNvSpPr/>
          <p:nvPr/>
        </p:nvSpPr>
        <p:spPr>
          <a:xfrm>
            <a:off x="10118605" y="1655064"/>
            <a:ext cx="1434070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Web en celular" descr="Web en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181" y="1691640"/>
            <a:ext cx="1360918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 · CLIMOV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 (sucesor de Xamarin) · C# · Android · HttpClient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una tablet Samsung real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cable (adb reverse) y por WiFi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 System.Net.Http.Json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ClienteRest y Controlador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servidor guardada en la app</a:t>
            </a:r>
            <a:endParaRPr lang="en-US" sz="1500" dirty="0"/>
          </a:p>
        </p:txBody>
      </p:sp>
      <p:sp>
        <p:nvSpPr>
          <p:cNvPr id="6" name="Marco Móvil en la tablet"/>
          <p:cNvSpPr/>
          <p:nvPr/>
        </p:nvSpPr>
        <p:spPr>
          <a:xfrm>
            <a:off x="5853684" y="1563624"/>
            <a:ext cx="4340352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óvil en la tablet" descr="Móvil en la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260" y="1600200"/>
            <a:ext cx="4267200" cy="2560320"/>
          </a:xfrm>
          <a:prstGeom prst="rect">
            <a:avLst/>
          </a:prstGeom>
        </p:spPr>
      </p:pic>
      <p:sp>
        <p:nvSpPr>
          <p:cNvPr id="8" name="Caja código móvil"/>
          <p:cNvSpPr/>
          <p:nvPr/>
        </p:nvSpPr>
        <p:spPr>
          <a:xfrm>
            <a:off x="4389120" y="4297680"/>
            <a:ext cx="7269480" cy="1920240"/>
          </a:xfrm>
          <a:prstGeom prst="roundRect">
            <a:avLst>
              <a:gd name="adj" fmla="val 4762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80560" y="4389120"/>
            <a:ext cx="7086600" cy="17373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r = await _http.PostAsJsonAsync(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Uri(base_, "api/autenticacion/login"), new SolicitudLogin(usuario, clave));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(r.StatusCode == HttpStatusCode.Unauthorized) return false;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 c = await _http.GetAsync(new Uri(base_, $"api/{ruta}?valor={valor}"));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(await c.Content.ReadFromJsonAsync&lt;RespuestaConversion&gt;()).Resultado;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red por roles</a:t>
            </a:r>
            <a:endParaRPr lang="en-US" sz="3400" dirty="0"/>
          </a:p>
        </p:txBody>
      </p:sp>
      <p:sp>
        <p:nvSpPr>
          <p:cNvPr id="4" name="Rol 1"/>
          <p:cNvSpPr/>
          <p:nvPr/>
        </p:nvSpPr>
        <p:spPr>
          <a:xfrm>
            <a:off x="54864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+ consola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el API en IIS con publicar_iis.ps1 (sitio CONUNI_REST, puerto 8086 y firewall)</a:t>
            </a:r>
            <a:endParaRPr lang="en-US" sz="1500" dirty="0"/>
          </a:p>
        </p:txBody>
      </p:sp>
      <p:sp>
        <p:nvSpPr>
          <p:cNvPr id="10" name="Rol 2"/>
          <p:cNvSpPr/>
          <p:nvPr/>
        </p:nvSpPr>
        <p:spPr>
          <a:xfrm>
            <a:off x="429768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Insignia 2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escritorio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PC: App.config y appsettings.json con la IP del servidor</a:t>
            </a:r>
            <a:endParaRPr lang="en-US" sz="1500" dirty="0"/>
          </a:p>
        </p:txBody>
      </p:sp>
      <p:sp>
        <p:nvSpPr>
          <p:cNvPr id="16" name="Rol 3"/>
          <p:cNvSpPr/>
          <p:nvPr/>
        </p:nvSpPr>
        <p:spPr>
          <a:xfrm>
            <a:off x="804672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Insignia 3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rgbClr val="7C3AAD"/>
          </a:solidFill>
          <a:ln w="12700">
            <a:solidFill>
              <a:srgbClr val="7C3AA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real por WiFi: URL del servidor en el login de la app</a:t>
            </a:r>
            <a:endParaRPr lang="en-US" sz="1500" dirty="0"/>
          </a:p>
        </p:txBody>
      </p:sp>
      <p:sp>
        <p:nvSpPr>
          <p:cNvPr id="22" name="Caja URL"/>
          <p:cNvSpPr/>
          <p:nvPr/>
        </p:nvSpPr>
        <p:spPr>
          <a:xfrm>
            <a:off x="548640" y="44348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434840"/>
            <a:ext cx="11109960" cy="10515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http://IP-DEL-SERVIDOR:8086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692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rápida desde cualquier equipo: http://IP-DEL-SERVIDOR:8086/swagger. Todos en la misma red WiFi.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3400" dirty="0"/>
          </a:p>
        </p:txBody>
      </p:sp>
      <p:pic>
        <p:nvPicPr>
          <p:cNvPr id="4" name="Diagrama de casos de uso" descr="Diagrama de 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9861"/>
            <a:ext cx="7498080" cy="429263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321040" y="1463040"/>
            <a:ext cx="3337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casos de uso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conversión generaliza temperatura, longitud y masa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validación del valor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Intercambiar unidades la extiende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API REST es un actor secundario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realizadas</a:t>
            </a:r>
            <a:endParaRPr lang="en-US" sz="3400" dirty="0"/>
          </a:p>
        </p:txBody>
      </p:sp>
      <p:sp>
        <p:nvSpPr>
          <p:cNvPr id="4" name="Resumen pruebas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6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superados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red WiFi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371600"/>
          <a:ext cx="7726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574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Login correcto / incorrecto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monster / monster69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200 · 401 «Intentos restantes: 2»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Celsius → Fahrenheit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212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Coma decimal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36,5 °C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97.7 °F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Kilómetros → Millas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6.213712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Kilogramos → Libras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2.204623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Cero absoluto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−300 °C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400 VALOR_INVALIDO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Valor no numérico al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?valor=abc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400 VALOR_INVALIDO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Servidor apagado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puerto sin servicio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«No se pudo conectar…»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En red, 3 equipos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IP de Wi-Fi :8086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Consola, escritorio, web y móvil 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Insignia 1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9202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REST, .NET Framework, .NET 8 y .NET MAUI consumen el mismo API solo con HttpClient y JSON.</a:t>
            </a:r>
            <a:endParaRPr lang="en-US" sz="2100" dirty="0"/>
          </a:p>
        </p:txBody>
      </p:sp>
      <p:sp>
        <p:nvSpPr>
          <p:cNvPr id="6" name="Insignia 2"/>
          <p:cNvSpPr/>
          <p:nvPr/>
        </p:nvSpPr>
        <p:spPr>
          <a:xfrm>
            <a:off x="731520" y="306324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971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en capas permitió pasar de SOAP a REST sin tocar la lógica de conversión.</a:t>
            </a:r>
            <a:endParaRPr lang="en-US" sz="2100" dirty="0"/>
          </a:p>
        </p:txBody>
      </p:sp>
      <p:sp>
        <p:nvSpPr>
          <p:cNvPr id="9" name="Insignia 3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0233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HTTP y un error JSON uniforme dan mensajes claros en los cuatro clientes.</a:t>
            </a:r>
            <a:endParaRPr lang="en-US" sz="2100" dirty="0"/>
          </a:p>
        </p:txBody>
      </p:sp>
      <p:sp>
        <p:nvSpPr>
          <p:cNvPr id="12" name="Insignia 4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50749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sirvió como contrato y como herramienta de pruebas; publicado en IIS, el API queda disponible en la red.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ESPE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Conversor de Unidades RESTful .NET</dc:title>
  <dc:subject>PptxGenJS Presentation</dc:subject>
  <dc:creator>Grupo 1</dc:creator>
  <cp:lastModifiedBy>Grupo 1</cp:lastModifiedBy>
  <cp:revision>1</cp:revision>
  <dcterms:created xsi:type="dcterms:W3CDTF">2026-10-27T23:19:06Z</dcterms:created>
  <dcterms:modified xsi:type="dcterms:W3CDTF">2026-10-27T23:19:06Z</dcterms:modified>
</cp:coreProperties>
</file>