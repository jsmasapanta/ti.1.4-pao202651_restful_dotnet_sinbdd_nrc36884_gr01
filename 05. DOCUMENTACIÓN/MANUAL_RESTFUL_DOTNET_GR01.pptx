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icio" id="{895ba0f6-f3ba-93a7-861b-0bcf2006143e}">
          <p14:sldIdLst>
            <p14:sldId id="256"/>
          </p14:sldIdLst>
        </p14:section>
        <p14:section name="Solución" id="{e04264cc-d5a0-76d4-4c97-d4c4bde505c2}">
          <p14:sldIdLst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Clientes" id="{17259e61-0d6e-fc21-1af4-a85acc1b6d41}">
          <p14:sldIdLst>
            <p14:sldId id="264"/>
            <p14:sldId id="265"/>
            <p14:sldId id="266"/>
            <p14:sldId id="267"/>
            <p14:sldId id="268"/>
          </p14:sldIdLst>
        </p14:section>
        <p14:section name="Calidad" id="{c707d7fa-f4f3-80ba-b7ef-c2b750bff02e}">
          <p14:sldIdLst>
            <p14:sldId id="269"/>
            <p14:sldId id="270"/>
          </p14:sldIdLst>
        </p14:section>
        <p14:section name="Cierre" id="{cb941811-6ba8-e8f7-277e-49062810928c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Presentación del proyecto TI.1.4: un API REST en .NET sin base de datos y cuatro clientes que lo consumen. Es la versión REST del TI.1.2 SOAP.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lógica está en un solo lugar (el servidor) y cuatro tecnologías distintas la consumen por HTTP y 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cuatro clientes hablan HTTP con el API en Kestrel :8086. El servidor se organiza en Controllers, Modelo y Lógica; las credenciales están en appsettings.json.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conversión es un recurso GET con el parámetro 'valor'. El login es un POST con 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la izquierda, la petición que envían los clientes. A la derecha, la respuesta 200 y el error 400 cuando el valor es imposible.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Swagger reemplaza al WSDL: describe el API con OpenAPI y permite probar cada recurso desde el navegador.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capa Lógica no cambió: solo la forma de exponerla y la clase Servicio de cada cliente.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Mejoras que hacen al sistema más correcto, más fácil de mantener y más claro para el usuario.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cliente más simple: sirve para comprobar que el API responde.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sola clase PanelConversion sirve para las tres categorías; el ClienteConversion es el mismo de la consola.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Mismo diseño que el escritorio; en celular el menú pasa arriba.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 «Conversor REST» instalada en una tablet; convive con la app SOAP del TI.1.2.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integrante usa su propio equipo; el servidor abre el puerto 8086 y los clientes apuntan a la IP de Wi-Fi de la PC del servidor.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Detalle en el ECUD: actores, flujos básicos y alternos de cada caso.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Primero en una sola PC (tablet por cable con adb reverse) y luego en red con la IP de Wi-Fi.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 y preguntas.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A">
    <p:bg>
      <p:bgPr>
        <a:solidFill>
          <a:srgbClr val="004A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48840"/>
            <a:ext cx="1069848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ERRE">
    <p:bg>
      <p:bgPr>
        <a:solidFill>
          <a:srgbClr val="004A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 · Arquitectura de Software · Conversor de Unidades RESTful .NET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signia ⇄"/>
          <p:cNvSpPr/>
          <p:nvPr/>
        </p:nvSpPr>
        <p:spPr>
          <a:xfrm>
            <a:off x="731520" y="731520"/>
            <a:ext cx="1005840" cy="1005840"/>
          </a:xfrm>
          <a:prstGeom prst="ellipse">
            <a:avLst/>
          </a:prstGeom>
          <a:solidFill>
            <a:srgbClr val="006950"/>
          </a:solidFill>
          <a:ln w="12700">
            <a:solidFill>
              <a:srgbClr val="00695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7315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⇄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965960" y="86868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E1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UNIVERSIDAD DE LAS FUERZAS ARMADAS ESPE · ARQUITECTURA DE SOFTWARE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965960" y="123444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EE1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TI.1.4 · PAO 2026-51 · NRC 36884 · Grupo 1</a:t>
            </a:r>
            <a:endParaRPr lang="en-US" sz="14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731520" y="2148840"/>
            <a:ext cx="10698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Conversor de Unidades RESTful .NET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61188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REST sin base de datos para temperatura, longitud y masa, con clientes de consola, escritorio, web y móvil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9377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BEE1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Integrantes: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BEE1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Wilmer Buestan · Jefferson Masapanta · Moises Benalcazar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BEE1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Tutor: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BEE1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Ing. Eduardo Mauricio Campaña Ortega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BEE1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Fecha: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BEE1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28/10/2026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API, cuatro clientes</a:t>
            </a:r>
            <a:endParaRPr lang="en-US" sz="3400" dirty="0"/>
          </a:p>
        </p:txBody>
      </p:sp>
      <p:sp>
        <p:nvSpPr>
          <p:cNvPr id="4" name="Cifra 1"/>
          <p:cNvSpPr/>
          <p:nvPr/>
        </p:nvSpPr>
        <p:spPr>
          <a:xfrm>
            <a:off x="548640" y="1463040"/>
            <a:ext cx="2560320" cy="2834640"/>
          </a:xfrm>
          <a:prstGeom prst="roundRect">
            <a:avLst>
              <a:gd name="adj" fmla="val 4286"/>
            </a:avLst>
          </a:prstGeom>
          <a:solidFill>
            <a:srgbClr val="F3F6F5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169164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006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66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97180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REST en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ASP.NET Core .NET 9</a:t>
            </a:r>
            <a:endParaRPr lang="en-US" sz="1600" dirty="0"/>
          </a:p>
        </p:txBody>
      </p:sp>
      <p:sp>
        <p:nvSpPr>
          <p:cNvPr id="7" name="Cifra 4"/>
          <p:cNvSpPr/>
          <p:nvPr/>
        </p:nvSpPr>
        <p:spPr>
          <a:xfrm>
            <a:off x="3364992" y="1463040"/>
            <a:ext cx="2560320" cy="2834640"/>
          </a:xfrm>
          <a:prstGeom prst="roundRect">
            <a:avLst>
              <a:gd name="adj" fmla="val 4286"/>
            </a:avLst>
          </a:prstGeom>
          <a:solidFill>
            <a:srgbClr val="F3F6F5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364992" y="169164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197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6600" dirty="0"/>
          </a:p>
        </p:txBody>
      </p:sp>
      <p:sp>
        <p:nvSpPr>
          <p:cNvPr id="9" name="Text 6"/>
          <p:cNvSpPr txBox="1"/>
          <p:nvPr/>
        </p:nvSpPr>
        <p:spPr>
          <a:xfrm>
            <a:off x="3502152" y="297180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clientes: consola,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escritorio, web y móvil</a:t>
            </a:r>
            <a:endParaRPr lang="en-US" sz="1600" dirty="0"/>
          </a:p>
        </p:txBody>
      </p:sp>
      <p:sp>
        <p:nvSpPr>
          <p:cNvPr id="10" name="Cifra 17"/>
          <p:cNvSpPr/>
          <p:nvPr/>
        </p:nvSpPr>
        <p:spPr>
          <a:xfrm>
            <a:off x="6181344" y="1463040"/>
            <a:ext cx="2560320" cy="2834640"/>
          </a:xfrm>
          <a:prstGeom prst="roundRect">
            <a:avLst>
              <a:gd name="adj" fmla="val 4286"/>
            </a:avLst>
          </a:prstGeom>
          <a:solidFill>
            <a:srgbClr val="F3F6F5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181344" y="169164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D65D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6600" dirty="0"/>
          </a:p>
        </p:txBody>
      </p:sp>
      <p:sp>
        <p:nvSpPr>
          <p:cNvPr id="12" name="Text 9"/>
          <p:cNvSpPr txBox="1"/>
          <p:nvPr/>
        </p:nvSpPr>
        <p:spPr>
          <a:xfrm>
            <a:off x="6318504" y="297180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recursos: login +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conversiones</a:t>
            </a:r>
            <a:endParaRPr lang="en-US" sz="1600" dirty="0"/>
          </a:p>
        </p:txBody>
      </p:sp>
      <p:sp>
        <p:nvSpPr>
          <p:cNvPr id="13" name="Cifra 0"/>
          <p:cNvSpPr/>
          <p:nvPr/>
        </p:nvSpPr>
        <p:spPr>
          <a:xfrm>
            <a:off x="8997696" y="1463040"/>
            <a:ext cx="2560320" cy="2834640"/>
          </a:xfrm>
          <a:prstGeom prst="roundRect">
            <a:avLst>
              <a:gd name="adj" fmla="val 4286"/>
            </a:avLst>
          </a:prstGeom>
          <a:solidFill>
            <a:srgbClr val="F3F6F5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997696" y="169164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7C3A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6600" dirty="0"/>
          </a:p>
        </p:txBody>
      </p:sp>
      <p:sp>
        <p:nvSpPr>
          <p:cNvPr id="15" name="Text 12"/>
          <p:cNvSpPr txBox="1"/>
          <p:nvPr/>
        </p:nvSpPr>
        <p:spPr>
          <a:xfrm>
            <a:off x="9134856" y="297180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bases de datos: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en memoria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4709160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Objetivo: </a:t>
            </a:r>
            <a:pPr indent="0" marL="0">
              <a:buNone/>
            </a:pPr>
            <a:r>
              <a:rPr lang="en-US" sz="18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exponer la misma lógica del TI.1.2 como recursos REST: .NET Framework, .NET 8 y .NET MAUI la consumen solo con HttpClient y JSON.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de la solución</a:t>
            </a:r>
            <a:endParaRPr lang="en-US" sz="3400" dirty="0"/>
          </a:p>
        </p:txBody>
      </p:sp>
      <p:pic>
        <p:nvPicPr>
          <p:cNvPr id="4" name="Diagrama de arquitectura" descr="Diagrama de arquitectu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8747" y="1234440"/>
            <a:ext cx="5729226" cy="4983480"/>
          </a:xfrm>
          <a:prstGeom prst="rect">
            <a:avLst/>
          </a:prstGeom>
        </p:spPr>
      </p:pic>
      <p:sp>
        <p:nvSpPr>
          <p:cNvPr id="5" name="Insignia 1"/>
          <p:cNvSpPr/>
          <p:nvPr/>
        </p:nvSpPr>
        <p:spPr>
          <a:xfrm>
            <a:off x="7863840" y="1417320"/>
            <a:ext cx="548640" cy="548640"/>
          </a:xfrm>
          <a:prstGeom prst="ellipse">
            <a:avLst/>
          </a:prstGeom>
          <a:solidFill>
            <a:srgbClr val="006950"/>
          </a:solidFill>
          <a:ln w="12700">
            <a:solidFill>
              <a:srgbClr val="006950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7863840" y="1417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8595360" y="13716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+ JSON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8595360" y="173736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Verbos HTTP sobre recursos, Kestrel :8086</a:t>
            </a:r>
            <a:endParaRPr lang="en-US" sz="1400" dirty="0"/>
          </a:p>
        </p:txBody>
      </p:sp>
      <p:sp>
        <p:nvSpPr>
          <p:cNvPr id="9" name="Insignia 2"/>
          <p:cNvSpPr/>
          <p:nvPr/>
        </p:nvSpPr>
        <p:spPr>
          <a:xfrm>
            <a:off x="7863840" y="2606040"/>
            <a:ext cx="548640" cy="548640"/>
          </a:xfrm>
          <a:prstGeom prst="ellipse">
            <a:avLst/>
          </a:prstGeom>
          <a:solidFill>
            <a:srgbClr val="1971C2"/>
          </a:solidFill>
          <a:ln w="12700">
            <a:solidFill>
              <a:srgbClr val="1971C2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863840" y="2606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8595360" y="25603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Swagger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8595360" y="292608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/swagger documenta y prueba el API (OpenAPI)</a:t>
            </a:r>
            <a:endParaRPr lang="en-US" sz="1400" dirty="0"/>
          </a:p>
        </p:txBody>
      </p:sp>
      <p:sp>
        <p:nvSpPr>
          <p:cNvPr id="13" name="Insignia 3"/>
          <p:cNvSpPr/>
          <p:nvPr/>
        </p:nvSpPr>
        <p:spPr>
          <a:xfrm>
            <a:off x="7863840" y="3794760"/>
            <a:ext cx="548640" cy="548640"/>
          </a:xfrm>
          <a:prstGeom prst="ellipse">
            <a:avLst/>
          </a:prstGeom>
          <a:solidFill>
            <a:srgbClr val="D65D0E"/>
          </a:solidFill>
          <a:ln w="12700">
            <a:solidFill>
              <a:srgbClr val="D65D0E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863840" y="3794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8595360" y="37490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Capas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8595360" y="411480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Controllers → Lógica (la misma del TI.1.2)</a:t>
            </a:r>
            <a:endParaRPr lang="en-US" sz="1400" dirty="0"/>
          </a:p>
        </p:txBody>
      </p:sp>
      <p:sp>
        <p:nvSpPr>
          <p:cNvPr id="17" name="Insignia 4"/>
          <p:cNvSpPr/>
          <p:nvPr/>
        </p:nvSpPr>
        <p:spPr>
          <a:xfrm>
            <a:off x="7863840" y="4983480"/>
            <a:ext cx="548640" cy="548640"/>
          </a:xfrm>
          <a:prstGeom prst="ellipse">
            <a:avLst/>
          </a:prstGeom>
          <a:solidFill>
            <a:srgbClr val="7C3AAD"/>
          </a:solidFill>
          <a:ln w="12700">
            <a:solidFill>
              <a:srgbClr val="7C3AAD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7863840" y="4983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9" name="Text 15"/>
          <p:cNvSpPr txBox="1"/>
          <p:nvPr/>
        </p:nvSpPr>
        <p:spPr>
          <a:xfrm>
            <a:off x="8595360" y="49377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BDD</a:t>
            </a:r>
            <a:endParaRPr lang="en-US" sz="1800" dirty="0"/>
          </a:p>
        </p:txBody>
      </p:sp>
      <p:sp>
        <p:nvSpPr>
          <p:cNvPr id="20" name="Text 16"/>
          <p:cNvSpPr txBox="1"/>
          <p:nvPr/>
        </p:nvSpPr>
        <p:spPr>
          <a:xfrm>
            <a:off x="8595360" y="530352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Credenciales en appsettings.json, cálculo en memoria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recursos del API</a:t>
            </a:r>
            <a:endParaRPr lang="en-US" sz="3400" dirty="0"/>
          </a:p>
        </p:txBody>
      </p:sp>
      <p:sp>
        <p:nvSpPr>
          <p:cNvPr id="4" name="Recurso /api/temperatura/"/>
          <p:cNvSpPr/>
          <p:nvPr/>
        </p:nvSpPr>
        <p:spPr>
          <a:xfrm>
            <a:off x="548640" y="1325880"/>
            <a:ext cx="3520440" cy="4160520"/>
          </a:xfrm>
          <a:prstGeom prst="roundRect">
            <a:avLst>
              <a:gd name="adj" fmla="val 3117"/>
            </a:avLst>
          </a:prstGeom>
          <a:solidFill>
            <a:srgbClr val="F3F6F5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5" name="Insignia °C"/>
          <p:cNvSpPr/>
          <p:nvPr/>
        </p:nvSpPr>
        <p:spPr>
          <a:xfrm>
            <a:off x="777240" y="1508760"/>
            <a:ext cx="731520" cy="731520"/>
          </a:xfrm>
          <a:prstGeom prst="ellipse">
            <a:avLst/>
          </a:prstGeom>
          <a:solidFill>
            <a:srgbClr val="D65D0E"/>
          </a:solidFill>
          <a:ln w="12700">
            <a:solidFill>
              <a:srgbClr val="D65D0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087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°C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645920" y="15544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65D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/api/temperatura/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423160"/>
            <a:ext cx="3108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celsiusAFahrenheit?valor=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fahrenheitACelsius?valor=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celsiusAKelvin?valor=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kelvinACelsius?valor=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fahrenheitAKelvin?valor=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kelvinAFahrenheit?valor=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452628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bajo el cero absoluto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(−273.15 °C · −459.67 °F · 0 K)</a:t>
            </a:r>
            <a:endParaRPr lang="en-US" sz="1300" dirty="0"/>
          </a:p>
        </p:txBody>
      </p:sp>
      <p:sp>
        <p:nvSpPr>
          <p:cNvPr id="10" name="Recurso /api/longitud/"/>
          <p:cNvSpPr/>
          <p:nvPr/>
        </p:nvSpPr>
        <p:spPr>
          <a:xfrm>
            <a:off x="4297680" y="1325880"/>
            <a:ext cx="3520440" cy="4160520"/>
          </a:xfrm>
          <a:prstGeom prst="roundRect">
            <a:avLst>
              <a:gd name="adj" fmla="val 3117"/>
            </a:avLst>
          </a:prstGeom>
          <a:solidFill>
            <a:srgbClr val="F3F6F5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11" name="Insignia m"/>
          <p:cNvSpPr/>
          <p:nvPr/>
        </p:nvSpPr>
        <p:spPr>
          <a:xfrm>
            <a:off x="4526280" y="1508760"/>
            <a:ext cx="731520" cy="731520"/>
          </a:xfrm>
          <a:prstGeom prst="ellipse">
            <a:avLst/>
          </a:prstGeom>
          <a:solidFill>
            <a:srgbClr val="1971C2"/>
          </a:solidFill>
          <a:ln w="12700">
            <a:solidFill>
              <a:srgbClr val="1971C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26280" y="15087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5394960" y="15544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71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/api/longitud/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4526280" y="2423160"/>
            <a:ext cx="3108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metrosAPies?valor=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piesAMetros?valor=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metrosAPulgadas?valor=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pulgadasAMetros?valor=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kilometrosAMillas?valor=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millasAKilometros?valor=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4526280" y="452628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negativa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ft = 0.3048 m · 1 mi = 1.609344 km</a:t>
            </a:r>
            <a:endParaRPr lang="en-US" sz="1300" dirty="0"/>
          </a:p>
        </p:txBody>
      </p:sp>
      <p:sp>
        <p:nvSpPr>
          <p:cNvPr id="16" name="Recurso /api/masa/"/>
          <p:cNvSpPr/>
          <p:nvPr/>
        </p:nvSpPr>
        <p:spPr>
          <a:xfrm>
            <a:off x="8046720" y="1325880"/>
            <a:ext cx="3520440" cy="4160520"/>
          </a:xfrm>
          <a:prstGeom prst="roundRect">
            <a:avLst>
              <a:gd name="adj" fmla="val 3117"/>
            </a:avLst>
          </a:prstGeom>
          <a:solidFill>
            <a:srgbClr val="F3F6F5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17" name="Insignia kg"/>
          <p:cNvSpPr/>
          <p:nvPr/>
        </p:nvSpPr>
        <p:spPr>
          <a:xfrm>
            <a:off x="8275320" y="1508760"/>
            <a:ext cx="731520" cy="731520"/>
          </a:xfrm>
          <a:prstGeom prst="ellipse">
            <a:avLst/>
          </a:prstGeom>
          <a:solidFill>
            <a:srgbClr val="7C3AAD"/>
          </a:solidFill>
          <a:ln w="12700">
            <a:solidFill>
              <a:srgbClr val="7C3AAD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275320" y="15087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kg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9144000" y="15544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C3AA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/api/masa/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8275320" y="2423160"/>
            <a:ext cx="3108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kilogramosALibras?valor=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librasAKilogramos?valor=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gramosAOnzas?valor=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onzasAGramos?valor=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8275320" y="452628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negativa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lb = 0.45359237 kg · 1 oz = 28.349523125 g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5715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POST /api/autenticacion/login  { usuario, clave }  → 200 | 401     ·     Errores: { codigo, mensaje }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Así viaja una conversión por REST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2344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Petición</a:t>
            </a:r>
            <a:endParaRPr lang="en-US" sz="1800" dirty="0"/>
          </a:p>
        </p:txBody>
      </p:sp>
      <p:sp>
        <p:nvSpPr>
          <p:cNvPr id="5" name="Caja petición"/>
          <p:cNvSpPr/>
          <p:nvPr/>
        </p:nvSpPr>
        <p:spPr>
          <a:xfrm>
            <a:off x="548640" y="1645920"/>
            <a:ext cx="5486400" cy="3931920"/>
          </a:xfrm>
          <a:prstGeom prst="roundRect">
            <a:avLst>
              <a:gd name="adj" fmla="val 2326"/>
            </a:avLst>
          </a:prstGeom>
          <a:solidFill>
            <a:srgbClr val="F3F6F5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1737360"/>
            <a:ext cx="5303520" cy="374904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/api/temperatura/celsiusAFahrenheit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?valor=100  HTTP/1.1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Host: 10.12.46.165:8086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Accept: application/json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/api/autenticacion/login  HTTP/1.1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Content-Type: application/json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"usuario": "monster",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"clave": "monster69" }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400800" y="123444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7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OK</a:t>
            </a:r>
            <a:endParaRPr lang="en-US" sz="1800" dirty="0"/>
          </a:p>
        </p:txBody>
      </p:sp>
      <p:sp>
        <p:nvSpPr>
          <p:cNvPr id="8" name="Caja respuesta"/>
          <p:cNvSpPr/>
          <p:nvPr/>
        </p:nvSpPr>
        <p:spPr>
          <a:xfrm>
            <a:off x="6400800" y="1645920"/>
            <a:ext cx="5212080" cy="1463040"/>
          </a:xfrm>
          <a:prstGeom prst="roundRect">
            <a:avLst>
              <a:gd name="adj" fmla="val 6250"/>
            </a:avLst>
          </a:prstGeom>
          <a:solidFill>
            <a:srgbClr val="F3F6F5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92240" y="1737360"/>
            <a:ext cx="5029200" cy="132588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"categoria": "Temperatura",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"operacion": "celsiusAFahrenheit",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"valor": 100, "unidadOrigen": "°C",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"unidadDestino": "°F", "resultado": 212 }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400800" y="333756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 Bad Request (−300 °C)</a:t>
            </a:r>
            <a:endParaRPr lang="en-US" sz="1800" dirty="0"/>
          </a:p>
        </p:txBody>
      </p:sp>
      <p:sp>
        <p:nvSpPr>
          <p:cNvPr id="11" name="Caja error"/>
          <p:cNvSpPr/>
          <p:nvPr/>
        </p:nvSpPr>
        <p:spPr>
          <a:xfrm>
            <a:off x="6400800" y="3749040"/>
            <a:ext cx="5212080" cy="1828800"/>
          </a:xfrm>
          <a:prstGeom prst="roundRect">
            <a:avLst>
              <a:gd name="adj" fmla="val 5000"/>
            </a:avLst>
          </a:prstGeom>
          <a:solidFill>
            <a:srgbClr val="FDF1EF"/>
          </a:solidFill>
          <a:ln w="12700">
            <a:solidFill>
              <a:srgbClr val="F2C4B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92240" y="3840480"/>
            <a:ext cx="5029200" cy="169164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"codigo": "VALOR_INVALIDO",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"mensaje": "La temperatura no puede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ser menor al cero absoluto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(-273.15 °C)." }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401 → { "codigo": "CREDENCIALES_INVALIDAS" }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Swagger: el contrato vivo del API</a:t>
            </a:r>
            <a:endParaRPr lang="en-US" sz="3400" dirty="0"/>
          </a:p>
        </p:txBody>
      </p:sp>
      <p:sp>
        <p:nvSpPr>
          <p:cNvPr id="4" name="Marco Swagger: error 400"/>
          <p:cNvSpPr/>
          <p:nvPr/>
        </p:nvSpPr>
        <p:spPr>
          <a:xfrm>
            <a:off x="1395774" y="1197864"/>
            <a:ext cx="4340773" cy="505663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5" name="Swagger: error 400" descr="Swagger: error 40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2350" y="1234440"/>
            <a:ext cx="4267621" cy="498348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949440" y="1463040"/>
            <a:ext cx="47091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004A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http://servidor:8086/swagger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Generado por Swashbuckle desde los controladores y sus comentarios ///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out → Execute: muestra la URL real, el código HTTP y el JSON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 OpenAPI en /swagger/v1/swagger.json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raíz del servidor redirige a /swagger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TI.1.2 (SOAP) al TI.1.4 (REST)</a:t>
            </a:r>
            <a:endParaRPr lang="en-US" sz="3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1099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389120"/>
                <a:gridCol w="470916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Aspecto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9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SOAP · TI.1.2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9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REST · TI.1.4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95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Servidor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WCF · .NET Framework 4.7.2 · IIS :8085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ASP.NET Core Web API · .NET 9 · Kestrel :8086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Formato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Sobre SOAP en XML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JSON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Contrato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WSDL (?wsdl)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OpenAPI · Swagger (/swagger)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Invocación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POST + cabecera SOAPAction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Verbo HTTP + URL del recurso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Errores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SOAP Fault con ErrorServicio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Código HTTP + { codigo, mensaje }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Clientes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ChannelFactory o sobre XML a mano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HttpClient + JSON, sin paquetes extra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Red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Publicar en IIS (script)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Abrir el puerto 8086 en el firewall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 de diseño</a:t>
            </a:r>
            <a:endParaRPr lang="en-US" sz="3400" dirty="0"/>
          </a:p>
        </p:txBody>
      </p:sp>
      <p:sp>
        <p:nvSpPr>
          <p:cNvPr id="4" name="Decisión 1"/>
          <p:cNvSpPr/>
          <p:nvPr/>
        </p:nvSpPr>
        <p:spPr>
          <a:xfrm>
            <a:off x="548640" y="137160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3F6F5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5" name="Insignia 1"/>
          <p:cNvSpPr/>
          <p:nvPr/>
        </p:nvSpPr>
        <p:spPr>
          <a:xfrm>
            <a:off x="777240" y="1600200"/>
            <a:ext cx="594360" cy="594360"/>
          </a:xfrm>
          <a:prstGeom prst="ellipse">
            <a:avLst/>
          </a:prstGeom>
          <a:solidFill>
            <a:srgbClr val="006950"/>
          </a:solidFill>
          <a:ln w="12700">
            <a:solidFill>
              <a:srgbClr val="00695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002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508760" y="160020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Lógica reutilizada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33172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mismos convertidores y validaciones del TI.1.2, sin cambios</a:t>
            </a:r>
            <a:endParaRPr lang="en-US" sz="1400" dirty="0"/>
          </a:p>
        </p:txBody>
      </p:sp>
      <p:sp>
        <p:nvSpPr>
          <p:cNvPr id="9" name="Decisión 2"/>
          <p:cNvSpPr/>
          <p:nvPr/>
        </p:nvSpPr>
        <p:spPr>
          <a:xfrm>
            <a:off x="4297680" y="137160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3F6F5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10" name="Insignia 2"/>
          <p:cNvSpPr/>
          <p:nvPr/>
        </p:nvSpPr>
        <p:spPr>
          <a:xfrm>
            <a:off x="4526280" y="1600200"/>
            <a:ext cx="594360" cy="59436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26280" y="16002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5257800" y="160020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Errores con código HTTP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4526280" y="233172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 valor inválido · 401 credenciales · cuerpo { codigo, mensaje }</a:t>
            </a:r>
            <a:endParaRPr lang="en-US" sz="1400" dirty="0"/>
          </a:p>
        </p:txBody>
      </p:sp>
      <p:sp>
        <p:nvSpPr>
          <p:cNvPr id="14" name="Decisión 3"/>
          <p:cNvSpPr/>
          <p:nvPr/>
        </p:nvSpPr>
        <p:spPr>
          <a:xfrm>
            <a:off x="8046720" y="137160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3F6F5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15" name="Insignia 3"/>
          <p:cNvSpPr/>
          <p:nvPr/>
        </p:nvSpPr>
        <p:spPr>
          <a:xfrm>
            <a:off x="8275320" y="1600200"/>
            <a:ext cx="594360" cy="594360"/>
          </a:xfrm>
          <a:prstGeom prst="ellipse">
            <a:avLst/>
          </a:prstGeom>
          <a:solidFill>
            <a:srgbClr val="1971C2"/>
          </a:solidFill>
          <a:ln w="12700">
            <a:solidFill>
              <a:srgbClr val="1971C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75320" y="16002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9006840" y="160020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Clave en el cuerpo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8275320" y="233172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login es POST con JSON: la clave nunca viaja en la URL</a:t>
            </a:r>
            <a:endParaRPr lang="en-US" sz="1400" dirty="0"/>
          </a:p>
        </p:txBody>
      </p:sp>
      <p:sp>
        <p:nvSpPr>
          <p:cNvPr id="19" name="Decisión 4"/>
          <p:cNvSpPr/>
          <p:nvPr/>
        </p:nvSpPr>
        <p:spPr>
          <a:xfrm>
            <a:off x="548640" y="37490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3F6F5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20" name="Insignia 4"/>
          <p:cNvSpPr/>
          <p:nvPr/>
        </p:nvSpPr>
        <p:spPr>
          <a:xfrm>
            <a:off x="777240" y="3977640"/>
            <a:ext cx="594360" cy="594360"/>
          </a:xfrm>
          <a:prstGeom prst="ellipse">
            <a:avLst/>
          </a:prstGeom>
          <a:solidFill>
            <a:srgbClr val="D65D0E"/>
          </a:solidFill>
          <a:ln w="12700">
            <a:solidFill>
              <a:srgbClr val="D65D0E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77240" y="39776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1508760" y="397764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paquetes en clientes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777240" y="470916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HttpClient + JSON incluidos en .NET Framework, .NET 8 y MAUI</a:t>
            </a:r>
            <a:endParaRPr lang="en-US" sz="1400" dirty="0"/>
          </a:p>
        </p:txBody>
      </p:sp>
      <p:sp>
        <p:nvSpPr>
          <p:cNvPr id="24" name="Decisión 5"/>
          <p:cNvSpPr/>
          <p:nvPr/>
        </p:nvSpPr>
        <p:spPr>
          <a:xfrm>
            <a:off x="4297680" y="37490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3F6F5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25" name="Insignia 5"/>
          <p:cNvSpPr/>
          <p:nvPr/>
        </p:nvSpPr>
        <p:spPr>
          <a:xfrm>
            <a:off x="4526280" y="3977640"/>
            <a:ext cx="594360" cy="594360"/>
          </a:xfrm>
          <a:prstGeom prst="ellipse">
            <a:avLst/>
          </a:prstGeom>
          <a:solidFill>
            <a:srgbClr val="7C3AAD"/>
          </a:solidFill>
          <a:ln w="12700">
            <a:solidFill>
              <a:srgbClr val="7C3AAD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526280" y="39776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5257800" y="397764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sin IIS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4526280" y="470916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Kestrel en http://*:8086 y un script que abre el firewall</a:t>
            </a:r>
            <a:endParaRPr lang="en-US" sz="1400" dirty="0"/>
          </a:p>
        </p:txBody>
      </p:sp>
      <p:sp>
        <p:nvSpPr>
          <p:cNvPr id="29" name="Decisión 6"/>
          <p:cNvSpPr/>
          <p:nvPr/>
        </p:nvSpPr>
        <p:spPr>
          <a:xfrm>
            <a:off x="8046720" y="37490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3F6F5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30" name="Insignia 6"/>
          <p:cNvSpPr/>
          <p:nvPr/>
        </p:nvSpPr>
        <p:spPr>
          <a:xfrm>
            <a:off x="8275320" y="3977640"/>
            <a:ext cx="594360" cy="594360"/>
          </a:xfrm>
          <a:prstGeom prst="ellipse">
            <a:avLst/>
          </a:prstGeom>
          <a:solidFill>
            <a:srgbClr val="6C757D"/>
          </a:solidFill>
          <a:ln w="12700">
            <a:solidFill>
              <a:srgbClr val="6C757D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275320" y="39776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9006840" y="397764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Patrón Singleton</a:t>
            </a:r>
            <a:endParaRPr lang="en-US" sz="1700" dirty="0"/>
          </a:p>
        </p:txBody>
      </p:sp>
      <p:sp>
        <p:nvSpPr>
          <p:cNvPr id="33" name="Text 30"/>
          <p:cNvSpPr txBox="1"/>
          <p:nvPr/>
        </p:nvSpPr>
        <p:spPr>
          <a:xfrm>
            <a:off x="8275320" y="470916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Autenticador, ClienteConversion y ClienteRest con una sola instancia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de consola · CLICON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.NET Framework 4.7.2 · HttpClient · DataContractJsonSerializer · MVC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91640"/>
            <a:ext cx="35661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con clave oculta (los 3 intentos los cuenta el servidor)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401 → «Intentos restantes: N»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Menú de categorías y conversiones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Acepta coma o punto decimal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del servidor en App.config</a:t>
            </a:r>
            <a:endParaRPr lang="en-US" sz="1500" dirty="0"/>
          </a:p>
        </p:txBody>
      </p:sp>
      <p:sp>
        <p:nvSpPr>
          <p:cNvPr id="6" name="Marco Resultado en la consola"/>
          <p:cNvSpPr/>
          <p:nvPr/>
        </p:nvSpPr>
        <p:spPr>
          <a:xfrm>
            <a:off x="5702803" y="1609344"/>
            <a:ext cx="4642114" cy="2221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7" name="Resultado en la consola" descr="Resultado en la consol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39379" y="1645920"/>
            <a:ext cx="4568962" cy="2148840"/>
          </a:xfrm>
          <a:prstGeom prst="rect">
            <a:avLst/>
          </a:prstGeom>
        </p:spPr>
      </p:pic>
      <p:sp>
        <p:nvSpPr>
          <p:cNvPr id="8" name="Marco Error 400 en la consola"/>
          <p:cNvSpPr/>
          <p:nvPr/>
        </p:nvSpPr>
        <p:spPr>
          <a:xfrm>
            <a:off x="5261468" y="3941064"/>
            <a:ext cx="5524784" cy="2313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9" name="Error 400 en la consola" descr="Error 400 en la consol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8044" y="3977640"/>
            <a:ext cx="5451632" cy="22402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de escritorio · CLIESC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5D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Forms · .NET Framework 4.7.2 · llamadas asíncronas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91640"/>
            <a:ext cx="35661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Menú lateral con color por categoría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Listas De / A: solo destinos válidos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Botón ⇄ para intercambiar unidades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Historial de la sesión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Errores del servidor en rojo</a:t>
            </a:r>
            <a:endParaRPr lang="en-US" sz="1500" dirty="0"/>
          </a:p>
        </p:txBody>
      </p:sp>
      <p:sp>
        <p:nvSpPr>
          <p:cNvPr id="6" name="Marco Escritorio: error del servidor"/>
          <p:cNvSpPr/>
          <p:nvPr/>
        </p:nvSpPr>
        <p:spPr>
          <a:xfrm>
            <a:off x="4352544" y="1894600"/>
            <a:ext cx="7342632" cy="4074641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7" name="Escritorio: error del servidor" descr="Escritorio: error del servid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0" y="1931176"/>
            <a:ext cx="7269480" cy="4001489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web · CLIWEB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7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ASP.NET Core MVC · .NET 8 · HttpClient + System.Net.Http.Json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91640"/>
            <a:ext cx="35661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Sesión: sin login no se entra a /Conversion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PostAsJsonAsync y GetAsync asíncronos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antifalsificación en formularios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Historial guardado en la sesión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adaptable a celular</a:t>
            </a:r>
            <a:endParaRPr lang="en-US" sz="1500" dirty="0"/>
          </a:p>
        </p:txBody>
      </p:sp>
      <p:sp>
        <p:nvSpPr>
          <p:cNvPr id="6" name="Marco Web: valor rechazado por el servidor"/>
          <p:cNvSpPr/>
          <p:nvPr/>
        </p:nvSpPr>
        <p:spPr>
          <a:xfrm>
            <a:off x="4352544" y="2209419"/>
            <a:ext cx="5468112" cy="344500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7" name="Web: valor rechazado por el servidor" descr="Web: valor rechazado por el servid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0" y="2245995"/>
            <a:ext cx="5394960" cy="3371850"/>
          </a:xfrm>
          <a:prstGeom prst="rect">
            <a:avLst/>
          </a:prstGeom>
        </p:spPr>
      </p:pic>
      <p:sp>
        <p:nvSpPr>
          <p:cNvPr id="8" name="Marco Web en celular"/>
          <p:cNvSpPr/>
          <p:nvPr/>
        </p:nvSpPr>
        <p:spPr>
          <a:xfrm>
            <a:off x="10103989" y="1655064"/>
            <a:ext cx="1463302" cy="4553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9" name="Web en celular" descr="Web en celul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0565" y="1691640"/>
            <a:ext cx="1390150" cy="44805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móvil · CLIMOV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C3A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.NET MAUI (sucesor de Xamarin) · C# · Android · HttpClient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91640"/>
            <a:ext cx="35661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Probado en una tablet Samsung real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cable (adb reverse) y por WiFi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con System.Net.Http.Json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Singleton: ClienteRest y Controlador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del servidor guardada en la app</a:t>
            </a:r>
            <a:endParaRPr lang="en-US" sz="1500" dirty="0"/>
          </a:p>
        </p:txBody>
      </p:sp>
      <p:sp>
        <p:nvSpPr>
          <p:cNvPr id="6" name="Caja código móvil"/>
          <p:cNvSpPr/>
          <p:nvPr/>
        </p:nvSpPr>
        <p:spPr>
          <a:xfrm>
            <a:off x="4389120" y="1691640"/>
            <a:ext cx="7269480" cy="1920240"/>
          </a:xfrm>
          <a:prstGeom prst="roundRect">
            <a:avLst>
              <a:gd name="adj" fmla="val 4762"/>
            </a:avLst>
          </a:prstGeom>
          <a:solidFill>
            <a:srgbClr val="F3F6F5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480560" y="1783080"/>
            <a:ext cx="7086600" cy="173736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var r = await _http.PostAsJsonAsync(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new Uri(base_, "api/autenticacion/login"), new SolicitudLogin(usuario, clave));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(r.StatusCode == HttpStatusCode.Unauthorized) return false;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var c = await _http.GetAsync(new Uri(base_, $"api/{ruta}?valor={valor}"));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 (await c.Content.ReadFromJsonAsync&lt;RespuestaConversion&gt;()).Resultado;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Despliegue en red por roles</a:t>
            </a:r>
            <a:endParaRPr lang="en-US" sz="3400" dirty="0"/>
          </a:p>
        </p:txBody>
      </p:sp>
      <p:sp>
        <p:nvSpPr>
          <p:cNvPr id="4" name="Rol 1"/>
          <p:cNvSpPr/>
          <p:nvPr/>
        </p:nvSpPr>
        <p:spPr>
          <a:xfrm>
            <a:off x="548640" y="1371600"/>
            <a:ext cx="3520440" cy="274320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5" name="Insignia 1"/>
          <p:cNvSpPr/>
          <p:nvPr/>
        </p:nvSpPr>
        <p:spPr>
          <a:xfrm>
            <a:off x="777240" y="1600200"/>
            <a:ext cx="640080" cy="640080"/>
          </a:xfrm>
          <a:prstGeom prst="ellipse">
            <a:avLst/>
          </a:prstGeom>
          <a:solidFill>
            <a:srgbClr val="006950"/>
          </a:solidFill>
          <a:ln w="12700">
            <a:solidFill>
              <a:srgbClr val="00695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1554480" y="16002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 1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554480" y="19202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Servidor + consola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56032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Ctrl + F5 en Visual Studio (Kestrel en http://*:8086) y abrir_puerto_red.ps1 una vez</a:t>
            </a:r>
            <a:endParaRPr lang="en-US" sz="1500" dirty="0"/>
          </a:p>
        </p:txBody>
      </p:sp>
      <p:sp>
        <p:nvSpPr>
          <p:cNvPr id="10" name="Rol 2"/>
          <p:cNvSpPr/>
          <p:nvPr/>
        </p:nvSpPr>
        <p:spPr>
          <a:xfrm>
            <a:off x="4297680" y="1371600"/>
            <a:ext cx="3520440" cy="274320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11" name="Insignia 2"/>
          <p:cNvSpPr/>
          <p:nvPr/>
        </p:nvSpPr>
        <p:spPr>
          <a:xfrm>
            <a:off x="4526280" y="1600200"/>
            <a:ext cx="640080" cy="640080"/>
          </a:xfrm>
          <a:prstGeom prst="ellipse">
            <a:avLst/>
          </a:prstGeom>
          <a:solidFill>
            <a:srgbClr val="1971C2"/>
          </a:solidFill>
          <a:ln w="12700">
            <a:solidFill>
              <a:srgbClr val="1971C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2628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5303520" y="16002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 2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5303520" y="19202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7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+ escritorio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4526280" y="256032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Otra PC: App.config y appsettings.json con la IP del servidor</a:t>
            </a:r>
            <a:endParaRPr lang="en-US" sz="1500" dirty="0"/>
          </a:p>
        </p:txBody>
      </p:sp>
      <p:sp>
        <p:nvSpPr>
          <p:cNvPr id="16" name="Rol 3"/>
          <p:cNvSpPr/>
          <p:nvPr/>
        </p:nvSpPr>
        <p:spPr>
          <a:xfrm>
            <a:off x="8046720" y="1371600"/>
            <a:ext cx="3520440" cy="274320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17" name="Insignia 3"/>
          <p:cNvSpPr/>
          <p:nvPr/>
        </p:nvSpPr>
        <p:spPr>
          <a:xfrm>
            <a:off x="8275320" y="1600200"/>
            <a:ext cx="640080" cy="640080"/>
          </a:xfrm>
          <a:prstGeom prst="ellipse">
            <a:avLst/>
          </a:prstGeom>
          <a:solidFill>
            <a:srgbClr val="7C3AAD"/>
          </a:solidFill>
          <a:ln w="12700">
            <a:solidFill>
              <a:srgbClr val="7C3AAD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27532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9052560" y="16002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 3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9052560" y="19202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C3A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Móvil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8275320" y="256032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Tablet real por WiFi: URL del servidor en el login de la app</a:t>
            </a:r>
            <a:endParaRPr lang="en-US" sz="1500" dirty="0"/>
          </a:p>
        </p:txBody>
      </p:sp>
      <p:sp>
        <p:nvSpPr>
          <p:cNvPr id="22" name="Caja URL"/>
          <p:cNvSpPr/>
          <p:nvPr/>
        </p:nvSpPr>
        <p:spPr>
          <a:xfrm>
            <a:off x="548640" y="4434840"/>
            <a:ext cx="11109960" cy="1051560"/>
          </a:xfrm>
          <a:prstGeom prst="roundRect">
            <a:avLst>
              <a:gd name="adj" fmla="val 8696"/>
            </a:avLst>
          </a:prstGeom>
          <a:solidFill>
            <a:srgbClr val="F3F6F5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48640" y="4434840"/>
            <a:ext cx="11109960" cy="105156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4A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http://IP-DEL-SERVIDOR:8086</a:t>
            </a:r>
            <a:endParaRPr lang="en-US" sz="26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5669280"/>
            <a:ext cx="11109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rápida desde cualquier equipo: http://IP-DEL-SERVIDOR:8086/swagger. Todos en la misma red WiFi.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de uso</a:t>
            </a:r>
            <a:endParaRPr lang="en-US" sz="3400" dirty="0"/>
          </a:p>
        </p:txBody>
      </p:sp>
      <p:pic>
        <p:nvPicPr>
          <p:cNvPr id="4" name="Diagrama de casos de uso" descr="Diagrama de casos de us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7926" y="1234440"/>
            <a:ext cx="6759507" cy="498348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8321040" y="1463040"/>
            <a:ext cx="33375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casos de uso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Realizar conversión generaliza temperatura, longitud y masa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la validación del valor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Intercambiar unidades la extiende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API REST es un actor secundario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realizadas</a:t>
            </a:r>
            <a:endParaRPr lang="en-US" sz="3400" dirty="0"/>
          </a:p>
        </p:txBody>
      </p:sp>
      <p:sp>
        <p:nvSpPr>
          <p:cNvPr id="4" name="Resumen pruebas"/>
          <p:cNvSpPr/>
          <p:nvPr/>
        </p:nvSpPr>
        <p:spPr>
          <a:xfrm>
            <a:off x="548640" y="1371600"/>
            <a:ext cx="3108960" cy="4754880"/>
          </a:xfrm>
          <a:prstGeom prst="roundRect">
            <a:avLst>
              <a:gd name="adj" fmla="val 3529"/>
            </a:avLst>
          </a:prstGeom>
          <a:solidFill>
            <a:srgbClr val="F3F6F5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1920240"/>
            <a:ext cx="3108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006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15/15</a:t>
            </a:r>
            <a:endParaRPr lang="en-US" sz="6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32004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de prueba superados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93192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97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4/4</a:t>
            </a:r>
            <a:endParaRPr lang="en-US" sz="44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48463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 en red WiFi</a:t>
            </a:r>
            <a:endParaRPr lang="en-US" sz="1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931920" y="1371600"/>
          <a:ext cx="772668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057400"/>
                <a:gridCol w="2926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Caso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9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Entrada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9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Resultado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95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Login correcto / incorrecto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monster / monster69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200 · 401 «Intentos restantes: 2»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Celsius → Fahrenheit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100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212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Coma decimal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36,5 °C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97.7 °F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Kilómetros → Millas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10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6.213712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Kilogramos → Libras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1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2.204623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Cero absoluto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−300 °C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400 VALOR_INVALIDO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Valor no numérico al API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?valor=abc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400 VALOR_INVALIDO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Servidor apagado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puerto sin servicio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«No se pudo conectar…»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En red, 3 equipos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IP de Wi-Fi :8086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Consola, escritorio, web y móvil ✔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</a:t>
            </a:r>
            <a:endParaRPr lang="en-US" sz="4000" dirty="0"/>
          </a:p>
        </p:txBody>
      </p:sp>
      <p:sp>
        <p:nvSpPr>
          <p:cNvPr id="3" name="Insignia 1"/>
          <p:cNvSpPr/>
          <p:nvPr/>
        </p:nvSpPr>
        <p:spPr>
          <a:xfrm>
            <a:off x="731520" y="2011680"/>
            <a:ext cx="640080" cy="640080"/>
          </a:xfrm>
          <a:prstGeom prst="ellipse">
            <a:avLst/>
          </a:prstGeom>
          <a:solidFill>
            <a:srgbClr val="006950"/>
          </a:solidFill>
          <a:ln w="12700">
            <a:solidFill>
              <a:srgbClr val="00695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1920240"/>
            <a:ext cx="9784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REST, .NET Framework, .NET 8 y .NET MAUI consumen el mismo API solo con HttpClient y JSON.</a:t>
            </a:r>
            <a:endParaRPr lang="en-US" sz="2100" dirty="0"/>
          </a:p>
        </p:txBody>
      </p:sp>
      <p:sp>
        <p:nvSpPr>
          <p:cNvPr id="6" name="Insignia 2"/>
          <p:cNvSpPr/>
          <p:nvPr/>
        </p:nvSpPr>
        <p:spPr>
          <a:xfrm>
            <a:off x="731520" y="3063240"/>
            <a:ext cx="640080" cy="640080"/>
          </a:xfrm>
          <a:prstGeom prst="ellipse">
            <a:avLst/>
          </a:prstGeom>
          <a:solidFill>
            <a:srgbClr val="006950"/>
          </a:solidFill>
          <a:ln w="12700">
            <a:solidFill>
              <a:srgbClr val="00695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3063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971800"/>
            <a:ext cx="9784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arquitectura en capas permitió pasar de SOAP a REST sin tocar la lógica de conversión.</a:t>
            </a:r>
            <a:endParaRPr lang="en-US" sz="2100" dirty="0"/>
          </a:p>
        </p:txBody>
      </p:sp>
      <p:sp>
        <p:nvSpPr>
          <p:cNvPr id="9" name="Insignia 3"/>
          <p:cNvSpPr/>
          <p:nvPr/>
        </p:nvSpPr>
        <p:spPr>
          <a:xfrm>
            <a:off x="731520" y="4114800"/>
            <a:ext cx="640080" cy="640080"/>
          </a:xfrm>
          <a:prstGeom prst="ellipse">
            <a:avLst/>
          </a:prstGeom>
          <a:solidFill>
            <a:srgbClr val="006950"/>
          </a:solidFill>
          <a:ln w="12700">
            <a:solidFill>
              <a:srgbClr val="00695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114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645920" y="4023360"/>
            <a:ext cx="9784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Códigos HTTP y un error JSON uniforme dan mensajes claros en los cuatro clientes.</a:t>
            </a:r>
            <a:endParaRPr lang="en-US" sz="2100" dirty="0"/>
          </a:p>
        </p:txBody>
      </p:sp>
      <p:sp>
        <p:nvSpPr>
          <p:cNvPr id="12" name="Insignia 4"/>
          <p:cNvSpPr/>
          <p:nvPr/>
        </p:nvSpPr>
        <p:spPr>
          <a:xfrm>
            <a:off x="731520" y="5166360"/>
            <a:ext cx="640080" cy="640080"/>
          </a:xfrm>
          <a:prstGeom prst="ellipse">
            <a:avLst/>
          </a:prstGeom>
          <a:solidFill>
            <a:srgbClr val="006950"/>
          </a:solidFill>
          <a:ln w="12700">
            <a:solidFill>
              <a:srgbClr val="00695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5166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645920" y="5074920"/>
            <a:ext cx="9784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Swagger sirvió como contrato y como herramienta de pruebas; Kestrel simplificó el despliegue en red.</a:t>
            </a:r>
            <a:endParaRPr lang="en-US" sz="2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ESPE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Conversor de Unidades RESTful .NET</dc:title>
  <dc:subject>PptxGenJS Presentation</dc:subject>
  <dc:creator>Grupo 1</dc:creator>
  <cp:lastModifiedBy>Grupo 1</cp:lastModifiedBy>
  <cp:revision>1</cp:revision>
  <dcterms:created xsi:type="dcterms:W3CDTF">2026-10-25T14:52:13Z</dcterms:created>
  <dcterms:modified xsi:type="dcterms:W3CDTF">2026-10-25T14:52:13Z</dcterms:modified>
</cp:coreProperties>
</file>